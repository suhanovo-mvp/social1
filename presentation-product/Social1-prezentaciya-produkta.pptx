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Титул. Обозначить рамку разговора: Social1 — не ещё одна информационная система, а контур управления реинжинирингом, где предложение, решение по нему и правка самой схемы процесса живут вместе. Пять компонентов внизу — план презентации.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Ключевая мысль: дефицита предложений нет. Не хватает управляемого пути от замеченной проблемы до изменённого регламента. Три карточки — три места, где этот путь рвётся сегодня. Нижняя полоса — то, чем Social1 отвечает на все три сразу.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Главное на слайде — не список из пяти пунктов, а то, что компоненты передают работу друг другу. Три верхних — последовательные потоки, два нижних работают внутри каждого из них. Нижняя строка про замыкание контура — самая важная: изменение возвращается в платформу и меняет её собственную работу.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Компонент 1 — самая массовая часть платформы. Подчеркнуть два места: подсказка о похожих идеях и практиках на первом шаге (это и есть поиск лучших практик — он работает в момент подачи, а не потом) и то, что признание вклада устроено как рекомендация руководителю, а не как автоматическая выдача поощрений.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Компонент 2 — ядро. Пройти по шести клеткам с их сроками: 3 рабочих дня, 5 рабочих дней, 4 спринта по две недели, месяц пилота плюс неделя анализа, старт масштабирования в течение двух недель. Отдельно проговорить Kill как нормальный результат. Последняя строка — мост к следующему слайду.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Компонент 3 — то, что отличает Social1 от обычного банка идей. Слева пять шагов пути изменения, справа три свойства, ради которых это работает. Отдельно остановиться на выводе состава согласующих из сравнения версий: список должностей не ведётся руками, его заменяет разбор затронутых дорожек.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Компонент 4. Две вещи, ради которых стоит показывать этот слайд: справочники платформы как варианты ответа (зелёная плашка) — учреждения и роли не набираются руками; и условия показа, которые проверяются и на сервере, поэтому скрытый вопрос не оставляет за собой лишних ответов. Образец ДЗМ — доказательство, что движок собран не под демонстрацию.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Компонент 5. Таблица слева — реальный каталог: десять сценариев, 62 шага, доступ по ролям. Справа главное отличие от записанных видеоинструкций: разбор схемы собирается из данных самой диаграммы, поэтому обучение не устаревает после правки процесса.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Самый убедительный слайд для скептика: он показывает, что компоненты не набор модулей, а один маршрут. Пройти по шести шагам на одном конкретном примере и закончить нижней полосой — авторство сохраняется на всём пути, кода никто не трогает.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для тех, кто спросит «а чем это отличается от портала предложений». Шесть свойств общего слоя. Наиболее весомые в разговоре с проверяющими — неизменяемый журнал аудита и то, что ИИ не принимает решений на воротах.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Финал. Три результата — и честный статус демоверсии. Проговорить статус вслух: это снимает половину вопросов из зала и показывает, что границы известны. Дальше — вопросы и договорённость о составе пилотной группы.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9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103120"/>
            <a:ext cx="6126480" cy="612648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1229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4572000"/>
            <a:ext cx="4389120" cy="4389120"/>
          </a:xfrm>
          <a:prstGeom prst="ellipse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1229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905" y="502920"/>
            <a:ext cx="438912" cy="438912"/>
          </a:xfrm>
          <a:prstGeom prst="roundRect">
            <a:avLst>
              <a:gd name="adj" fmla="val 29167"/>
            </a:avLst>
          </a:prstGeom>
          <a:solidFill>
            <a:srgbClr val="FFFFFF">
              <a:alpha val="16000"/>
            </a:srgbClr>
          </a:solidFill>
          <a:ln w="12700">
            <a:solidFill>
              <a:srgbClr val="12294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09905" y="5029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76833" y="50292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182880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7F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 УПРАВЛЕНИЯ РЕИНЖИНИРИНГОМ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09905" y="2212848"/>
            <a:ext cx="8778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Реинжиниринг перестаёт быть перепиской</a:t>
            </a:r>
            <a:endParaRPr lang="en-US" sz="4200" dirty="0"/>
          </a:p>
        </p:txBody>
      </p:sp>
      <p:sp>
        <p:nvSpPr>
          <p:cNvPr id="9" name="Text 7"/>
          <p:cNvSpPr txBox="1"/>
          <p:nvPr/>
        </p:nvSpPr>
        <p:spPr>
          <a:xfrm>
            <a:off x="609905" y="3456432"/>
            <a:ext cx="7955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3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Цифровая платформа управления планированием реинжиниринга и администрирования сопутствующих коммуникаций: от проблемы, замеченной на рабочем месте, до опубликованной схемы процесса, по которой работает сама платформа.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09905" y="4709160"/>
            <a:ext cx="1645920" cy="384048"/>
          </a:xfrm>
          <a:prstGeom prst="roundRect">
            <a:avLst>
              <a:gd name="adj" fmla="val 119048"/>
            </a:avLst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9905" y="47091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Краудсорсинг идей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374697" y="4709160"/>
            <a:ext cx="2157984" cy="384048"/>
          </a:xfrm>
          <a:prstGeom prst="roundRect">
            <a:avLst>
              <a:gd name="adj" fmla="val 119048"/>
            </a:avLst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374697" y="4709160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Жизненный цикл инициатив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51553" y="4709160"/>
            <a:ext cx="2029968" cy="384048"/>
          </a:xfrm>
          <a:prstGeom prst="roundRect">
            <a:avLst>
              <a:gd name="adj" fmla="val 119048"/>
            </a:avLst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51553" y="470916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Краудсорсинг процессов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00393" y="4709160"/>
            <a:ext cx="1645920" cy="384048"/>
          </a:xfrm>
          <a:prstGeom prst="roundRect">
            <a:avLst>
              <a:gd name="adj" fmla="val 119048"/>
            </a:avLst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00393" y="47091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Конструктор форм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565185" y="4709160"/>
            <a:ext cx="1517904" cy="384048"/>
          </a:xfrm>
          <a:prstGeom prst="roundRect">
            <a:avLst>
              <a:gd name="adj" fmla="val 119048"/>
            </a:avLst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65185" y="4709160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Обучающие туры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09905" y="57607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708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Заказчик
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3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[организация-заказчик]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480560" y="57607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708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Докладчик и дата
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3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[ФИО, должность] · [дата]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905" y="457200"/>
            <a:ext cx="109718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09905" y="731520"/>
            <a:ext cx="1097188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34"/>
              </a:lnSpc>
              <a:buNone/>
            </a:pPr>
            <a:r>
              <a:rPr lang="en-US" sz="3100" b="1" dirty="0">
                <a:solidFill>
                  <a:srgbClr val="141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Реинжиниринг упирается не в дефицит идей, а в их администрирование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1828800"/>
            <a:ext cx="965525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Знание о лишнем шаге есть у того, кто натыкается на него каждый день. Между этим знанием и изменённым регламентом стоит переписка — и она нигде не сходится в одну картину.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905" y="2743200"/>
            <a:ext cx="3504895" cy="2057400"/>
          </a:xfrm>
          <a:prstGeom prst="roundRect">
            <a:avLst>
              <a:gd name="adj" fmla="val 2222"/>
            </a:avLst>
          </a:prstGeom>
          <a:solidFill>
            <a:srgbClr val="FBE7E7"/>
          </a:solidFill>
          <a:ln w="12700">
            <a:solidFill>
              <a:srgbClr val="FBE7E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9361" y="2962656"/>
            <a:ext cx="30659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3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Предложение теряется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9361" y="3547872"/>
            <a:ext cx="306598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сотрудника нет ни формы, ни адресата, ни срока ответа. Служебная записка уходит в почту и там останавливается — без статуса и без владельца.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2743200"/>
            <a:ext cx="3504895" cy="2057400"/>
          </a:xfrm>
          <a:prstGeom prst="roundRect">
            <a:avLst>
              <a:gd name="adj" fmla="val 2222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62856" y="2962656"/>
            <a:ext cx="30659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A862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Решение не прослеживается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62856" y="3547872"/>
            <a:ext cx="306598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Кто, когда и на каком основании сказал «нет», через месяц восстановить нельзя. Для автора отказ выглядит как молчание, для организации — как потерянный опыт.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76895" y="2743200"/>
            <a:ext cx="3504895" cy="2057400"/>
          </a:xfrm>
          <a:prstGeom prst="roundRect">
            <a:avLst>
              <a:gd name="adj" fmla="val 2222"/>
            </a:avLst>
          </a:prstGeom>
          <a:solidFill>
            <a:srgbClr val="F0E9F9"/>
          </a:solidFill>
          <a:ln w="12700">
            <a:solidFill>
              <a:srgbClr val="F0E9F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96351" y="2962656"/>
            <a:ext cx="30659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6B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Схема не совпадает с работой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296351" y="3547872"/>
            <a:ext cx="306598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процесса лежит в справочнике отдельно от того, как работа идёт на самом деле. Поэтому её правка не меняет ничего, кроме документа.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9905" y="5074920"/>
            <a:ext cx="10971886" cy="1005840"/>
          </a:xfrm>
          <a:prstGeom prst="roundRect">
            <a:avLst>
              <a:gd name="adj" fmla="val 4545"/>
            </a:avLst>
          </a:prstGeom>
          <a:solidFill>
            <a:srgbClr val="EFF5FD"/>
          </a:solidFill>
          <a:ln w="12700">
            <a:solidFill>
              <a:srgbClr val="DDE9F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5937" y="531266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45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SOCIAL1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2667305" y="5257800"/>
            <a:ext cx="865845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Предложение, решение по нему и правка самой схемы процесса живут в одном контуре — с общими сроками, ролями и журналом. Опубликованная схема пересобирает конвейер, поэтому изменение вступает в силу, а не остаётся согласованным документом.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9905" y="6291072"/>
            <a:ext cx="10971886" cy="0"/>
          </a:xfrm>
          <a:prstGeom prst="line">
            <a:avLst/>
          </a:prstGeom>
          <a:noFill/>
          <a:ln w="12700">
            <a:solidFill>
              <a:srgbClr val="DFE4E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9905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Social1 · Управление реинжинирингом и коммуникациями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066739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905" y="457200"/>
            <a:ext cx="109718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ПЛАТФОРМЫ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09905" y="731520"/>
            <a:ext cx="1097188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34"/>
              </a:lnSpc>
              <a:buNone/>
            </a:pPr>
            <a:r>
              <a:rPr lang="en-US" sz="3100" b="1" dirty="0">
                <a:solidFill>
                  <a:srgbClr val="141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потока работы и два сквозных сервиса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1426464"/>
            <a:ext cx="965525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Компоненты не соседствуют в меню, а передают работу друг другу: идея становится инициативой, подтверждённая инициатива меняет схему процесса, схема пересобирает конвейер.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905" y="2212848"/>
            <a:ext cx="3310128" cy="1755648"/>
          </a:xfrm>
          <a:prstGeom prst="roundRect">
            <a:avLst>
              <a:gd name="adj" fmla="val 2604"/>
            </a:avLst>
          </a:prstGeom>
          <a:solidFill>
            <a:srgbClr val="F9FAFC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11073" y="2414016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F6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КОМПОНЕНТ 1 · ПОТОК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11073" y="2660904"/>
            <a:ext cx="2907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2"/>
              </a:lnSpc>
              <a:buNone/>
            </a:pPr>
            <a:r>
              <a:rPr lang="en-US" sz="1400" b="1" dirty="0">
                <a:solidFill>
                  <a:srgbClr val="141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Краудсорсинг идей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11073" y="3191256"/>
            <a:ext cx="2907792" cy="656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Фиксация проблемы за минуту</a:t>
            </a:r>
            <a:endParaRPr lang="en-US" sz="1150" dirty="0"/>
          </a:p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Подсказка о похожих идеях и практиках</a:t>
            </a:r>
            <a:endParaRPr lang="en-US" sz="1150" dirty="0"/>
          </a:p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Решения коллег, ревью карточками, рейтинг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920033" y="2212848"/>
            <a:ext cx="521208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4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441241" y="2212848"/>
            <a:ext cx="3310128" cy="1755648"/>
          </a:xfrm>
          <a:prstGeom prst="roundRect">
            <a:avLst>
              <a:gd name="adj" fmla="val 2604"/>
            </a:avLst>
          </a:prstGeom>
          <a:solidFill>
            <a:srgbClr val="F9FAFC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42409" y="2414016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КОМПОНЕНТ 2 · ПОТОК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642409" y="2660904"/>
            <a:ext cx="2907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2"/>
              </a:lnSpc>
              <a:buNone/>
            </a:pPr>
            <a:r>
              <a:rPr lang="en-US" sz="1400" b="1" dirty="0">
                <a:solidFill>
                  <a:srgbClr val="141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Жизненный цикл инициатив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42409" y="3191256"/>
            <a:ext cx="2907792" cy="656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Stage-Gate: пять точек принятия решений</a:t>
            </a:r>
            <a:endParaRPr lang="en-US" sz="1150" dirty="0"/>
          </a:p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Прототип, пилот, масштабирование</a:t>
            </a:r>
            <a:endParaRPr lang="en-US" sz="1150" dirty="0"/>
          </a:p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Сроки, задачи в кабинетах, эскалация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751369" y="2212848"/>
            <a:ext cx="521208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4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8272577" y="2212848"/>
            <a:ext cx="3310128" cy="1755648"/>
          </a:xfrm>
          <a:prstGeom prst="roundRect">
            <a:avLst>
              <a:gd name="adj" fmla="val 2604"/>
            </a:avLst>
          </a:prstGeom>
          <a:solidFill>
            <a:srgbClr val="F9FAFC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73745" y="2414016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КОМПОНЕНТ 3 · ПОТОК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473745" y="2660904"/>
            <a:ext cx="2907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2"/>
              </a:lnSpc>
              <a:buNone/>
            </a:pPr>
            <a:r>
              <a:rPr lang="en-US" sz="1400" b="1" dirty="0">
                <a:solidFill>
                  <a:srgbClr val="141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Краудсорсинг процессов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473745" y="3191256"/>
            <a:ext cx="2907792" cy="656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Замечание висит на конкретном шаге схемы</a:t>
            </a:r>
            <a:endParaRPr lang="en-US" sz="1150" dirty="0"/>
          </a:p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Предложение несёт готовую черновую схему</a:t>
            </a:r>
            <a:endParaRPr lang="en-US" sz="1150" dirty="0"/>
          </a:p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Согласуют те, чьи дорожки затронуты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9905" y="4133088"/>
            <a:ext cx="10971886" cy="749808"/>
          </a:xfrm>
          <a:prstGeom prst="roundRect">
            <a:avLst>
              <a:gd name="adj" fmla="val 6098"/>
            </a:avLst>
          </a:prstGeom>
          <a:solidFill>
            <a:srgbClr val="E3F5EC"/>
          </a:solidFill>
          <a:ln w="12700">
            <a:solidFill>
              <a:srgbClr val="E3F5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7649" y="426110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1A7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КОМПОНЕНТ 4 · СКВОЗНОЙ СЕРВИС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47649" y="44622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1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Конструктор форм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627425" y="4270248"/>
            <a:ext cx="77166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 информации на любом шаге любого потока: одиннадцать типов вопросов, справочники как варианты ответа, условия показа, публикация ссылкой наружу без входа в систему.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9905" y="4974336"/>
            <a:ext cx="10971886" cy="749808"/>
          </a:xfrm>
          <a:prstGeom prst="roundRect">
            <a:avLst>
              <a:gd name="adj" fmla="val 6098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47649" y="510235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A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КОМПОНЕНТ 5 · СКВОЗНОЙ СЕРВИС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847649" y="53035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1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Обучающие туры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627425" y="5111496"/>
            <a:ext cx="77166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Объясняют каждый модуль и каждый процесс поверх живого интерфейса: десять сценариев по ролям и разбор схем, собранный из данных самих диаграмм.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09905" y="5852160"/>
            <a:ext cx="109718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14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Контур замыкается: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подтверждённое решение меняет схему процесса (3), а опубликованная схема пересобирает конвейер инициатив (2) — без правки исходного кода.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09905" y="6291072"/>
            <a:ext cx="10971886" cy="0"/>
          </a:xfrm>
          <a:prstGeom prst="line">
            <a:avLst/>
          </a:prstGeom>
          <a:noFill/>
          <a:ln w="12700">
            <a:solidFill>
              <a:srgbClr val="DFE4E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09905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Social1 · Управление реинжинирингом и коммуникациями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066739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905" y="457200"/>
            <a:ext cx="109718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КОМПОНЕНТ 1 · КРАУДСОРСИНГ ИДЕЙ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09905" y="731520"/>
            <a:ext cx="1097188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34"/>
              </a:lnSpc>
              <a:buNone/>
            </a:pPr>
            <a:r>
              <a:rPr lang="en-US" sz="3100" b="1" dirty="0">
                <a:solidFill>
                  <a:srgbClr val="141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Идея фиксируется за минуту — и сразу ищет похожие решения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1426464"/>
            <a:ext cx="965525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Массовый вход в экосистему: чтобы назвать проблему, не нужны ни проект, ни согласование, ни знание регламента. Дальше идею разбирают коллеги.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905" y="2212848"/>
            <a:ext cx="2605811" cy="1938528"/>
          </a:xfrm>
          <a:prstGeom prst="roundRect">
            <a:avLst>
              <a:gd name="adj" fmla="val 2358"/>
            </a:avLst>
          </a:prstGeom>
          <a:solidFill>
            <a:srgbClr val="F9FAFC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11073" y="2414016"/>
            <a:ext cx="220347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F6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11073" y="2660904"/>
            <a:ext cx="22034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3"/>
              </a:lnSpc>
              <a:buNone/>
            </a:pPr>
            <a:r>
              <a:rPr lang="en-US" sz="1350" b="1" dirty="0">
                <a:solidFill>
                  <a:srgbClr val="141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Зафиксировать проблему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11073" y="3191256"/>
            <a:ext cx="2203475" cy="839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 из трёх полей с быстрыми шаблонами и автосохранением черновика. При вводе платформа показывает похожие идеи и уже проверенные практики других учреждений.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98596" y="2212848"/>
            <a:ext cx="2605811" cy="1938528"/>
          </a:xfrm>
          <a:prstGeom prst="roundRect">
            <a:avLst>
              <a:gd name="adj" fmla="val 2358"/>
            </a:avLst>
          </a:prstGeom>
          <a:solidFill>
            <a:srgbClr val="F9FAFC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99764" y="2414016"/>
            <a:ext cx="220347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F6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2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3599764" y="2660904"/>
            <a:ext cx="22034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3"/>
              </a:lnSpc>
              <a:buNone/>
            </a:pPr>
            <a:r>
              <a:rPr lang="en-US" sz="1350" b="1" dirty="0">
                <a:solidFill>
                  <a:srgbClr val="141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Предложить решение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3599764" y="3191256"/>
            <a:ext cx="2203475" cy="839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Коллеги предлагают варианты и делятся опытом, который у них уже сработал. Автор идеи отмечает то, что помогло, остальные подтверждают рабочие решения.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87288" y="2212848"/>
            <a:ext cx="2605811" cy="1938528"/>
          </a:xfrm>
          <a:prstGeom prst="roundRect">
            <a:avLst>
              <a:gd name="adj" fmla="val 2358"/>
            </a:avLst>
          </a:prstGeom>
          <a:solidFill>
            <a:srgbClr val="F9FAFC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88456" y="2414016"/>
            <a:ext cx="220347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F6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3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388456" y="2660904"/>
            <a:ext cx="22034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3"/>
              </a:lnSpc>
              <a:buNone/>
            </a:pPr>
            <a:r>
              <a:rPr lang="en-US" sz="1350" b="1" dirty="0">
                <a:solidFill>
                  <a:srgbClr val="141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Быстрое ревью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388456" y="3191256"/>
            <a:ext cx="2203475" cy="839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Режим для тех, у кого есть пять минут: одна карточка за раз, оценка одним движением. Очередь подбирает предложения, которые видели реже всего.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975979" y="2212848"/>
            <a:ext cx="2605811" cy="1938528"/>
          </a:xfrm>
          <a:prstGeom prst="roundRect">
            <a:avLst>
              <a:gd name="adj" fmla="val 2358"/>
            </a:avLst>
          </a:prstGeom>
          <a:solidFill>
            <a:srgbClr val="F9FAFC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77147" y="2414016"/>
            <a:ext cx="220347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F6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4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9177147" y="2660904"/>
            <a:ext cx="22034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3"/>
              </a:lnSpc>
              <a:buNone/>
            </a:pPr>
            <a:r>
              <a:rPr lang="en-US" sz="1350" b="1" dirty="0">
                <a:solidFill>
                  <a:srgbClr val="141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Признание вклада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9177147" y="3191256"/>
            <a:ext cx="2203475" cy="839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Очки по настраиваемым правилам, рейтинг за месяц, квартал и год, знаки отличия и список сотрудников, рекомендованных руководителю к поощрению.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9905" y="4315968"/>
            <a:ext cx="5348783" cy="1060704"/>
          </a:xfrm>
          <a:prstGeom prst="roundRect">
            <a:avLst>
              <a:gd name="adj" fmla="val 4310"/>
            </a:avLst>
          </a:prstGeom>
          <a:solidFill>
            <a:srgbClr val="EFF5FD"/>
          </a:solidFill>
          <a:ln w="12700">
            <a:solidFill>
              <a:srgbClr val="DDE9F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9361" y="4480560"/>
            <a:ext cx="490987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14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Рекомендация, а не выдача.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Меры подобраны под правила государственной службы — от благодарности и грамоты до дополнительного дня отдыха, обучения и кадрового резерва. Решение принимает руководитель, платформа фиксирует основание.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33008" y="4315968"/>
            <a:ext cx="5348783" cy="1060704"/>
          </a:xfrm>
          <a:prstGeom prst="roundRect">
            <a:avLst>
              <a:gd name="adj" fmla="val 4310"/>
            </a:avLst>
          </a:prstGeom>
          <a:solidFill>
            <a:srgbClr val="F9FAFC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52464" y="4480560"/>
            <a:ext cx="490987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14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Накрутка бессмысленна.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Повторное начисление невозможно на уровне базы данных, самооценки не учитываются, дубли отсекаются при отправке. Оценки в ревью очков не дают: это триаж, а не признание вклада.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09905" y="56235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СТАТУСЫ ИДЕИ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2072945" y="5568696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Новая  →  На рассмотрении  →  Принята к обсуждению  →  В работе  →  </a:t>
            </a:r>
            <a:pPr indent="0" marL="0">
              <a:buNone/>
            </a:pPr>
            <a:r>
              <a:rPr lang="en-US" sz="1200" b="1" dirty="0">
                <a:solidFill>
                  <a:srgbClr val="1A7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Реализована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107985" y="5568696"/>
            <a:ext cx="34738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dirty="0">
                <a:solidFill>
                  <a:srgbClr val="245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Идее, которой нужен проект, — путь в конвейер инициатив с сохранением авторства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09905" y="6291072"/>
            <a:ext cx="10971886" cy="0"/>
          </a:xfrm>
          <a:prstGeom prst="line">
            <a:avLst/>
          </a:prstGeom>
          <a:noFill/>
          <a:ln w="12700">
            <a:solidFill>
              <a:srgbClr val="DFE4E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09905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Social1 · Управление реинжинирингом и коммуникациями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066739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905" y="457200"/>
            <a:ext cx="109718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КОМПОНЕНТ 2 · ЖИЗНЕННЫЙ ЦИКЛ ИНИЦИАТИВ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09905" y="731520"/>
            <a:ext cx="1097188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34"/>
              </a:lnSpc>
              <a:buNone/>
            </a:pPr>
            <a:r>
              <a:rPr lang="en-US" sz="3100" b="1" dirty="0">
                <a:solidFill>
                  <a:srgbClr val="141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Пять ворот от появления инициативы до масштабирования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1426464"/>
            <a:ext cx="965525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Работы отделены от принятия решений: каждый этап завершается формальной точкой, где уполномоченный участник на основе доказательств принимает решение с обязательной аргументацией.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905" y="2240280"/>
            <a:ext cx="1752448" cy="1298448"/>
          </a:xfrm>
          <a:prstGeom prst="roundRect">
            <a:avLst>
              <a:gd name="adj" fmla="val 3521"/>
            </a:avLst>
          </a:prstGeom>
          <a:solidFill>
            <a:srgbClr val="EFF5FD"/>
          </a:solidFill>
          <a:ln w="12700">
            <a:solidFill>
              <a:srgbClr val="EFF5F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7065" y="2377440"/>
            <a:ext cx="1478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47065" y="2615184"/>
            <a:ext cx="1478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14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Фиксация проблемы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47065" y="3200400"/>
            <a:ext cx="1478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автоматический переход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53792" y="2240280"/>
            <a:ext cx="1752448" cy="1298448"/>
          </a:xfrm>
          <a:prstGeom prst="roundRect">
            <a:avLst>
              <a:gd name="adj" fmla="val 3521"/>
            </a:avLst>
          </a:prstGeom>
          <a:solidFill>
            <a:srgbClr val="EFF5FD"/>
          </a:solidFill>
          <a:ln w="12700">
            <a:solidFill>
              <a:srgbClr val="EFF5F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90952" y="2377440"/>
            <a:ext cx="1478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245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 · 3 р. дня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2590952" y="2615184"/>
            <a:ext cx="1478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14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руководителем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590952" y="3200400"/>
            <a:ext cx="1478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руководитель учреждения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97680" y="2240280"/>
            <a:ext cx="1752448" cy="1298448"/>
          </a:xfrm>
          <a:prstGeom prst="roundRect">
            <a:avLst>
              <a:gd name="adj" fmla="val 3521"/>
            </a:avLst>
          </a:prstGeom>
          <a:solidFill>
            <a:srgbClr val="E6EEFA"/>
          </a:solidFill>
          <a:ln w="12700">
            <a:solidFill>
              <a:srgbClr val="E6EE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34840" y="2377440"/>
            <a:ext cx="1478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245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 · 5 р. дней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4434840" y="2615184"/>
            <a:ext cx="1478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14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Экспертиза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434840" y="3200400"/>
            <a:ext cx="1478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комитет экспертов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41568" y="2240280"/>
            <a:ext cx="1752448" cy="1298448"/>
          </a:xfrm>
          <a:prstGeom prst="roundRect">
            <a:avLst>
              <a:gd name="adj" fmla="val 3521"/>
            </a:avLst>
          </a:prstGeom>
          <a:solidFill>
            <a:srgbClr val="DDE9F9"/>
          </a:solidFill>
          <a:ln w="12700">
            <a:solidFill>
              <a:srgbClr val="DDE9F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78728" y="2377440"/>
            <a:ext cx="1478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3 · 4 спринта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6278728" y="2615184"/>
            <a:ext cx="1478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14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прототипа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278728" y="3200400"/>
            <a:ext cx="1478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разработки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985455" y="2240280"/>
            <a:ext cx="1752448" cy="1298448"/>
          </a:xfrm>
          <a:prstGeom prst="roundRect">
            <a:avLst>
              <a:gd name="adj" fmla="val 3521"/>
            </a:avLst>
          </a:prstGeom>
          <a:solidFill>
            <a:srgbClr val="DDE9F9"/>
          </a:solidFill>
          <a:ln w="12700">
            <a:solidFill>
              <a:srgbClr val="DDE9F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122615" y="2377440"/>
            <a:ext cx="1478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4 · 1 месяц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8122615" y="2615184"/>
            <a:ext cx="1478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14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Пилотирование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8122615" y="3200400"/>
            <a:ext cx="1478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координатор пилотов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829343" y="2240280"/>
            <a:ext cx="1752448" cy="1298448"/>
          </a:xfrm>
          <a:prstGeom prst="roundRect">
            <a:avLst>
              <a:gd name="adj" fmla="val 3521"/>
            </a:avLst>
          </a:prstGeom>
          <a:solidFill>
            <a:srgbClr val="E3F5EC"/>
          </a:solidFill>
          <a:ln w="12700">
            <a:solidFill>
              <a:srgbClr val="E3F5E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966503" y="2377440"/>
            <a:ext cx="1478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1A7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5 · 2 недели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9966503" y="2615184"/>
            <a:ext cx="1478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14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Масштабирование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9966503" y="3200400"/>
            <a:ext cx="1478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центральный аппарат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9905" y="3730752"/>
            <a:ext cx="3504895" cy="1664208"/>
          </a:xfrm>
          <a:prstGeom prst="roundRect">
            <a:avLst>
              <a:gd name="adj" fmla="val 2747"/>
            </a:avLst>
          </a:prstGeom>
          <a:solidFill>
            <a:srgbClr val="F9FAFC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11073" y="3913632"/>
            <a:ext cx="31025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Четыре решения на каждых воротах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811073" y="4279392"/>
            <a:ext cx="566928" cy="274320"/>
          </a:xfrm>
          <a:prstGeom prst="roundRect">
            <a:avLst>
              <a:gd name="adj" fmla="val 166667"/>
            </a:avLst>
          </a:prstGeom>
          <a:solidFill>
            <a:srgbClr val="E3F5EC"/>
          </a:solidFill>
          <a:ln w="12700">
            <a:solidFill>
              <a:srgbClr val="E3F5E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11073" y="427939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478585" y="4279392"/>
            <a:ext cx="658368" cy="274320"/>
          </a:xfrm>
          <a:prstGeom prst="roundRect">
            <a:avLst>
              <a:gd name="adj" fmla="val 166667"/>
            </a:avLst>
          </a:prstGeom>
          <a:solidFill>
            <a:srgbClr val="FBE7E7"/>
          </a:solidFill>
          <a:ln w="12700">
            <a:solidFill>
              <a:srgbClr val="FBE7E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478585" y="427939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237537" y="4279392"/>
            <a:ext cx="713232" cy="274320"/>
          </a:xfrm>
          <a:prstGeom prst="roundRect">
            <a:avLst>
              <a:gd name="adj" fmla="val 166667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237537" y="427939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051353" y="4279392"/>
            <a:ext cx="1042416" cy="274320"/>
          </a:xfrm>
          <a:prstGeom prst="roundRect">
            <a:avLst>
              <a:gd name="adj" fmla="val 166667"/>
            </a:avLst>
          </a:prstGeom>
          <a:solidFill>
            <a:srgbClr val="F0E9F9"/>
          </a:solidFill>
          <a:ln w="12700">
            <a:solidFill>
              <a:srgbClr val="F0E9F9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051353" y="427939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11073" y="4645152"/>
            <a:ext cx="31025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фиксируется с аргументацией. Отказ — это результат: он экономит ресурс и попадает в архив опыта, а автор получает объяснение, а не молчание.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343400" y="3730752"/>
            <a:ext cx="3504895" cy="1664208"/>
          </a:xfrm>
          <a:prstGeom prst="roundRect">
            <a:avLst>
              <a:gd name="adj" fmla="val 2747"/>
            </a:avLst>
          </a:prstGeom>
          <a:solidFill>
            <a:srgbClr val="F9FAFC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544568" y="3931920"/>
            <a:ext cx="310255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3"/>
              </a:lnSpc>
              <a:buNone/>
            </a:pPr>
            <a:r>
              <a:rPr lang="en-US" sz="1350" b="1" dirty="0">
                <a:solidFill>
                  <a:srgbClr val="141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Движок процесса</a:t>
            </a:r>
            <a:endParaRPr lang="en-US" sz="1350" dirty="0"/>
          </a:p>
        </p:txBody>
      </p:sp>
      <p:sp>
        <p:nvSpPr>
          <p:cNvPr id="42" name="Text 40"/>
          <p:cNvSpPr txBox="1"/>
          <p:nvPr/>
        </p:nvSpPr>
        <p:spPr>
          <a:xfrm>
            <a:off x="4544568" y="4462272"/>
            <a:ext cx="3102559" cy="811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Автоматическая маршрутизация между участниками, задачи в личных кабинетах, уведомления, таймеры срока с предупреждением о риске превышения и автоматической эскалацией просроченных решений координатору.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8076895" y="3730752"/>
            <a:ext cx="3504895" cy="1664208"/>
          </a:xfrm>
          <a:prstGeom prst="roundRect">
            <a:avLst>
              <a:gd name="adj" fmla="val 2747"/>
            </a:avLst>
          </a:prstGeom>
          <a:solidFill>
            <a:srgbClr val="F9FAFC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278063" y="3931920"/>
            <a:ext cx="310255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3"/>
              </a:lnSpc>
              <a:buNone/>
            </a:pPr>
            <a:r>
              <a:rPr lang="en-US" sz="1350" b="1" dirty="0">
                <a:solidFill>
                  <a:srgbClr val="141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Инструменты этапов</a:t>
            </a:r>
            <a:endParaRPr lang="en-US" sz="1350" dirty="0"/>
          </a:p>
        </p:txBody>
      </p:sp>
      <p:sp>
        <p:nvSpPr>
          <p:cNvPr id="45" name="Text 43"/>
          <p:cNvSpPr txBox="1"/>
          <p:nvPr/>
        </p:nvSpPr>
        <p:spPr>
          <a:xfrm>
            <a:off x="8278063" y="4462272"/>
            <a:ext cx="3102559" cy="811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Прототип — Agile-доски со спринтами, бэклогом и оценками в story points. Пилот — заявки площадок, KPI с базовым, целевым и фактическим значением, встроенные опросы сотрудников и граждан.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609905" y="5559552"/>
            <a:ext cx="109718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14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Сроки и критерии — не отдельная настройка.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Конвейер собирается из опубликованной модели сквозной схемы «Полный цикл»: правка её этапов меняет реальную работу платформы.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09905" y="6291072"/>
            <a:ext cx="10971886" cy="0"/>
          </a:xfrm>
          <a:prstGeom prst="line">
            <a:avLst/>
          </a:prstGeom>
          <a:noFill/>
          <a:ln w="12700">
            <a:solidFill>
              <a:srgbClr val="DFE4ED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09905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Social1 · Управление реинжинирингом и коммуникациями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1066739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905" y="457200"/>
            <a:ext cx="109718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КОМПОНЕНТ 3 · КРАУДСОРСИНГ ПРОЦЕССОВ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09905" y="731520"/>
            <a:ext cx="1097188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34"/>
              </a:lnSpc>
              <a:buNone/>
            </a:pPr>
            <a:r>
              <a:rPr lang="en-US" sz="3100" b="1" dirty="0">
                <a:solidFill>
                  <a:srgbClr val="141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Схема процесса — источник истины для конвейера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1426464"/>
            <a:ext cx="965525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картинка в справочнике, а описание того, как работа идёт на самом деле. Сотрудник, который каждый день упирается в лишний шаг, не пишет служебную записку, а показывает на схеме, что убрать.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905" y="2231136"/>
            <a:ext cx="265176" cy="265176"/>
          </a:xfrm>
          <a:prstGeom prst="ellipse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09905" y="2231136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93953" y="221284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Замечание на конкретном шаге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93953" y="2450592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Метка висит на фигуре, а не на процессе целиком, — разговор о ней не тонет в общей ленте.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9905" y="2926080"/>
            <a:ext cx="265176" cy="265176"/>
          </a:xfrm>
          <a:prstGeom prst="ellipse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9905" y="2926080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93953" y="290779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Предложение об изменении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993953" y="3145536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Несёт готовую черновую схему, а не текст пожеланий: обсуждают ровно то, что будет опубликовано.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9905" y="3621024"/>
            <a:ext cx="265176" cy="265176"/>
          </a:xfrm>
          <a:prstGeom prst="ellipse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9905" y="3621024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93953" y="360273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Правка в редакторе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993953" y="384048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Поверх той же схемы, что и просмотр: сетка дорожек и колонок сохраняет читаемость.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9905" y="4315968"/>
            <a:ext cx="265176" cy="265176"/>
          </a:xfrm>
          <a:prstGeom prst="ellipse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9905" y="4315968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93953" y="429768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Согласование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993953" y="4535424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Срок, задача в кабинете, эскалация просрочки, обязательная аргументация при отказе.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9905" y="5010912"/>
            <a:ext cx="265176" cy="265176"/>
          </a:xfrm>
          <a:prstGeom prst="ellipse">
            <a:avLst/>
          </a:prstGeom>
          <a:solidFill>
            <a:srgbClr val="1A7F52"/>
          </a:solidFill>
          <a:ln w="12700">
            <a:solidFill>
              <a:srgbClr val="1A7F5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09905" y="5010912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93953" y="499262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Публикация — и платформа работает по-новому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993953" y="523036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блоков этапов пересобирается конфигурация: сроки, ответственные и критерии реальных решений.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181905" y="2212848"/>
            <a:ext cx="6399886" cy="1097280"/>
          </a:xfrm>
          <a:prstGeom prst="roundRect">
            <a:avLst>
              <a:gd name="adj" fmla="val 4167"/>
            </a:avLst>
          </a:prstGeom>
          <a:solidFill>
            <a:srgbClr val="F9FAFC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364785" y="2395728"/>
            <a:ext cx="603412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3"/>
              </a:lnSpc>
              <a:buNone/>
            </a:pPr>
            <a:r>
              <a:rPr lang="en-US" sz="1350" b="1" dirty="0">
                <a:solidFill>
                  <a:srgbClr val="141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Согласуют те, кого изменение касается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5364785" y="2926080"/>
            <a:ext cx="60341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Состав выводится не из списка должностей, а из сравнения версий: видны затронутые дорожки, за ними стоят роли. Правка расположения фигур не поднимает никого; изменение конвейера инициатив дополнительно идёт через центральный аппарат.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181905" y="3401568"/>
            <a:ext cx="6399886" cy="1097280"/>
          </a:xfrm>
          <a:prstGeom prst="roundRect">
            <a:avLst>
              <a:gd name="adj" fmla="val 4167"/>
            </a:avLst>
          </a:prstGeom>
          <a:solidFill>
            <a:srgbClr val="F9FAFC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364785" y="3584448"/>
            <a:ext cx="603412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3"/>
              </a:lnSpc>
              <a:buNone/>
            </a:pPr>
            <a:r>
              <a:rPr lang="en-US" sz="1350" b="1" dirty="0">
                <a:solidFill>
                  <a:srgbClr val="141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Публикация защищена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5364785" y="4114800"/>
            <a:ext cx="60341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Этап, на котором стоят живые инициативы, нельзя ни убрать, ни переномеровать: сравнение идёт по узлу схемы, а не по номеру. Опубликованная версия неизменяема, история правок полная.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181905" y="4590288"/>
            <a:ext cx="6399886" cy="1097280"/>
          </a:xfrm>
          <a:prstGeom prst="roundRect">
            <a:avLst>
              <a:gd name="adj" fmla="val 4167"/>
            </a:avLst>
          </a:prstGeom>
          <a:solidFill>
            <a:srgbClr val="F9FAFC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364785" y="4773168"/>
            <a:ext cx="603412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3"/>
              </a:lnSpc>
              <a:buNone/>
            </a:pPr>
            <a:r>
              <a:rPr lang="en-US" sz="1350" b="1" dirty="0">
                <a:solidFill>
                  <a:srgbClr val="141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Двадцать схем и выгрузка в PDF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5364785" y="5303520"/>
            <a:ext cx="60341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пользовательских пути, сквозная нумерация шагов вида «4.6» — на шаг можно сослаться в регламенте. Векторный PDF с пошаговым описанием, альбом всех схем одним файлом.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609905" y="5806440"/>
            <a:ext cx="109718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14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Мотивация общая.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Вклад в перестройку процессов измеряется теми же очками и тем же рейтингом, что и советы по чужим идеям, — отдельного механизма для этого нет.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09905" y="6291072"/>
            <a:ext cx="10971886" cy="0"/>
          </a:xfrm>
          <a:prstGeom prst="line">
            <a:avLst/>
          </a:prstGeom>
          <a:noFill/>
          <a:ln w="12700">
            <a:solidFill>
              <a:srgbClr val="DFE4E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09905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Social1 · Управление реинжинирингом и коммуникациями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066739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905" y="457200"/>
            <a:ext cx="109718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7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КОМПОНЕНТ 4 · КОНСТРУКТОР ФОРМ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09905" y="731520"/>
            <a:ext cx="1097188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34"/>
              </a:lnSpc>
              <a:buNone/>
            </a:pPr>
            <a:r>
              <a:rPr lang="en-US" sz="3100" b="1" dirty="0">
                <a:solidFill>
                  <a:srgbClr val="141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Анкета собирается в интерфейсе, а не в коде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1426464"/>
            <a:ext cx="965525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Одиннадцать видов вопросов и справочники платформы в качестве вариантов ответа — учреждения, роли, направления подставляются готовыми, а не набираются руками.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905" y="2240280"/>
            <a:ext cx="1133856" cy="329184"/>
          </a:xfrm>
          <a:prstGeom prst="roundRect">
            <a:avLst>
              <a:gd name="adj" fmla="val 38889"/>
            </a:avLst>
          </a:prstGeom>
          <a:solidFill>
            <a:srgbClr val="F9FAFC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09905" y="2240280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Короткий текст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35201" y="2240280"/>
            <a:ext cx="1097280" cy="329184"/>
          </a:xfrm>
          <a:prstGeom prst="roundRect">
            <a:avLst>
              <a:gd name="adj" fmla="val 38889"/>
            </a:avLst>
          </a:prstGeom>
          <a:solidFill>
            <a:srgbClr val="F9FAFC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35201" y="22402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Длинный текст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23921" y="2240280"/>
            <a:ext cx="1042416" cy="329184"/>
          </a:xfrm>
          <a:prstGeom prst="roundRect">
            <a:avLst>
              <a:gd name="adj" fmla="val 38889"/>
            </a:avLst>
          </a:prstGeom>
          <a:solidFill>
            <a:srgbClr val="F9FAFC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23921" y="2240280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вариант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57777" y="2240280"/>
            <a:ext cx="1444752" cy="329184"/>
          </a:xfrm>
          <a:prstGeom prst="roundRect">
            <a:avLst>
              <a:gd name="adj" fmla="val 38889"/>
            </a:avLst>
          </a:prstGeom>
          <a:solidFill>
            <a:srgbClr val="F9FAFC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57777" y="2240280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Несколько вариантов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93969" y="2240280"/>
            <a:ext cx="2121408" cy="329184"/>
          </a:xfrm>
          <a:prstGeom prst="roundRect">
            <a:avLst>
              <a:gd name="adj" fmla="val 38889"/>
            </a:avLst>
          </a:prstGeom>
          <a:solidFill>
            <a:srgbClr val="E3F5EC"/>
          </a:solidFill>
          <a:ln w="12700">
            <a:solidFill>
              <a:srgbClr val="9FD3B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93969" y="2240280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Выпадающий список · справочник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06817" y="2240280"/>
            <a:ext cx="694944" cy="329184"/>
          </a:xfrm>
          <a:prstGeom prst="roundRect">
            <a:avLst>
              <a:gd name="adj" fmla="val 38889"/>
            </a:avLst>
          </a:prstGeom>
          <a:solidFill>
            <a:srgbClr val="F9FAFC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906817" y="2240280"/>
            <a:ext cx="694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Шкала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9905" y="2642616"/>
            <a:ext cx="694944" cy="329184"/>
          </a:xfrm>
          <a:prstGeom prst="roundRect">
            <a:avLst>
              <a:gd name="adj" fmla="val 38889"/>
            </a:avLst>
          </a:prstGeom>
          <a:solidFill>
            <a:srgbClr val="F9FAFC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9905" y="2642616"/>
            <a:ext cx="694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396289" y="2642616"/>
            <a:ext cx="658368" cy="329184"/>
          </a:xfrm>
          <a:prstGeom prst="roundRect">
            <a:avLst>
              <a:gd name="adj" fmla="val 38889"/>
            </a:avLst>
          </a:prstGeom>
          <a:solidFill>
            <a:srgbClr val="F9FAFC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396289" y="2642616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146097" y="2642616"/>
            <a:ext cx="713232" cy="329184"/>
          </a:xfrm>
          <a:prstGeom prst="roundRect">
            <a:avLst>
              <a:gd name="adj" fmla="val 38889"/>
            </a:avLst>
          </a:prstGeom>
          <a:solidFill>
            <a:srgbClr val="F9FAFC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146097" y="2642616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Почта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950769" y="2642616"/>
            <a:ext cx="841248" cy="329184"/>
          </a:xfrm>
          <a:prstGeom prst="roundRect">
            <a:avLst>
              <a:gd name="adj" fmla="val 38889"/>
            </a:avLst>
          </a:prstGeom>
          <a:solidFill>
            <a:srgbClr val="F9FAFC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950769" y="2642616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Телефон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883457" y="2642616"/>
            <a:ext cx="1207008" cy="329184"/>
          </a:xfrm>
          <a:prstGeom prst="roundRect">
            <a:avLst>
              <a:gd name="adj" fmla="val 38889"/>
            </a:avLst>
          </a:prstGeom>
          <a:solidFill>
            <a:srgbClr val="F9FAFC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883457" y="2642616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Разделы блоков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181905" y="2642616"/>
            <a:ext cx="1792224" cy="329184"/>
          </a:xfrm>
          <a:prstGeom prst="roundRect">
            <a:avLst>
              <a:gd name="adj" fmla="val 38889"/>
            </a:avLst>
          </a:prstGeom>
          <a:solidFill>
            <a:srgbClr val="F9FAFC"/>
          </a:solidFill>
          <a:ln w="12700">
            <a:solidFill>
              <a:srgbClr val="DFE4ED"/>
            </a:solidFill>
            <a:prstDash val="dash"/>
          </a:ln>
        </p:spPr>
      </p:sp>
      <p:sp>
        <p:nvSpPr>
          <p:cNvPr id="28" name="Text 26"/>
          <p:cNvSpPr txBox="1"/>
          <p:nvPr/>
        </p:nvSpPr>
        <p:spPr>
          <a:xfrm>
            <a:off x="5181905" y="2642616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«Другое» со своим текстом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9905" y="3200400"/>
            <a:ext cx="3504895" cy="1828800"/>
          </a:xfrm>
          <a:prstGeom prst="roundRect">
            <a:avLst>
              <a:gd name="adj" fmla="val 2500"/>
            </a:avLst>
          </a:prstGeom>
          <a:solidFill>
            <a:srgbClr val="F9FAFC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11073" y="3401568"/>
            <a:ext cx="310255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3"/>
              </a:lnSpc>
              <a:buNone/>
            </a:pPr>
            <a:r>
              <a:rPr lang="en-US" sz="1350" b="1" dirty="0">
                <a:solidFill>
                  <a:srgbClr val="141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Условие показа — у самого вопроса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811073" y="3931920"/>
            <a:ext cx="3102559" cy="976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«Уточните, где именно» видит только тот, кто поставил оценку 3 и выше. Правило работает одинаково в браузере и на сервере: скрытый вопрос не считается обязательным, а ответ на него не сохраняется — оценка, изменённая в последний момент, не оставляет следов.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343400" y="3200400"/>
            <a:ext cx="3504895" cy="1828800"/>
          </a:xfrm>
          <a:prstGeom prst="roundRect">
            <a:avLst>
              <a:gd name="adj" fmla="val 2500"/>
            </a:avLst>
          </a:prstGeom>
          <a:solidFill>
            <a:srgbClr val="F9FAFC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544568" y="3401568"/>
            <a:ext cx="310255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3"/>
              </a:lnSpc>
              <a:buNone/>
            </a:pPr>
            <a:r>
              <a:rPr lang="en-US" sz="1350" b="1" dirty="0">
                <a:solidFill>
                  <a:srgbClr val="141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Публикация внутрь и наружу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4544568" y="3931920"/>
            <a:ext cx="3102559" cy="976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Участникам платформы или ссылкой: страница по ссылке открывается без входа в систему, поэтому её можно разослать в учреждения, у сотрудников которых нет учётной записи. Настраиваются анонимность, один ответ, срок сбора и текст после отправки.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076895" y="3200400"/>
            <a:ext cx="3504895" cy="1828800"/>
          </a:xfrm>
          <a:prstGeom prst="roundRect">
            <a:avLst>
              <a:gd name="adj" fmla="val 2500"/>
            </a:avLst>
          </a:prstGeom>
          <a:solidFill>
            <a:srgbClr val="F9FAFC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78063" y="3401568"/>
            <a:ext cx="310255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3"/>
              </a:lnSpc>
              <a:buNone/>
            </a:pPr>
            <a:r>
              <a:rPr lang="en-US" sz="1350" b="1" dirty="0">
                <a:solidFill>
                  <a:srgbClr val="141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Результаты сводятся сразу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8278063" y="3931920"/>
            <a:ext cx="3102559" cy="976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Распределение по вариантам, среднее и медиана по шкалам, свободные ответы целиком, таблица анкет построчно, выгрузка в CSV. У условных вопросов рядом с числом ответов показан охват — иначе доля отвечающих врёт.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09905" y="5193792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FF5FD"/>
          </a:solidFill>
          <a:ln w="12700">
            <a:solidFill>
              <a:srgbClr val="DDE9F9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65937" y="543153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45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ОБРАЗЕЦ В ПОСТАВКЕ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2667305" y="5376672"/>
            <a:ext cx="865845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Опросник ДЗМ «Оценка потенциала переиспользования ИИ-решений в учреждениях ДТСЗН»: пять блоков, 25 вопросов, оценка пяти решений по шкале и восемь условных уточнений об эффектах. Собран целиком в конструкторе — это и есть проверка того, что движок покрывает реальные требования.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609905" y="6291072"/>
            <a:ext cx="10971886" cy="0"/>
          </a:xfrm>
          <a:prstGeom prst="line">
            <a:avLst/>
          </a:prstGeom>
          <a:noFill/>
          <a:ln w="12700">
            <a:solidFill>
              <a:srgbClr val="DFE4ED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09905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Social1 · Управление реинжинирингом и коммуникациями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1066739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905" y="457200"/>
            <a:ext cx="109718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КОМПОНЕНТ 5 · ОБУЧАЮЩИЕ ТУРЫ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09905" y="731520"/>
            <a:ext cx="1097188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34"/>
              </a:lnSpc>
              <a:buNone/>
            </a:pPr>
            <a:r>
              <a:rPr lang="en-US" sz="3100" b="1" dirty="0">
                <a:solidFill>
                  <a:srgbClr val="141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Обучение идёт поверх живого интерфейса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1426464"/>
            <a:ext cx="965525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Кнопка со знаком вопроса в шапке открывает каталог сценариев. Каждый ведёт по реальному экрану с подсветкой элементов и, если нужно, сам переходит между разделами.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905" y="2240280"/>
          <a:ext cx="5806440" cy="914400"/>
        </p:xfrm>
        <a:graphic>
          <a:graphicData uri="http://schemas.openxmlformats.org/drawingml/2006/table">
            <a:tbl>
              <a:tblPr/>
              <a:tblGrid>
                <a:gridCol w="2697480"/>
                <a:gridCol w="640080"/>
                <a:gridCol w="24688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80" kern="0" dirty="0">
                          <a:solidFill>
                            <a:srgbClr val="7C879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СЦЕНАРИЙ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spc="80" kern="0" dirty="0">
                          <a:solidFill>
                            <a:srgbClr val="7C879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ШАГОВ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80" kern="0" dirty="0">
                          <a:solidFill>
                            <a:srgbClr val="7C879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КОМУ ДОСТУПЕН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Знакомство с порталом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450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всем ролям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Идеи и решения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450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всем ролям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Подать идею за минуту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450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всем ролям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Как предложить решение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450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всем ролям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Быстрое ревью предложений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450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всем ролям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Как подать инициативу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450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сотрудник, руководитель, эксперт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Принятие решения на Gate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450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все, кто решает на точках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Изменение процессов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450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всем, кроме поставщика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Аналитика и КПЭ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450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руководитель, эксперт, координатор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Настройка процесса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450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центральный аппарат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1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73545" y="2212848"/>
            <a:ext cx="4708246" cy="1042416"/>
          </a:xfrm>
          <a:prstGeom prst="roundRect">
            <a:avLst>
              <a:gd name="adj" fmla="val 4386"/>
            </a:avLst>
          </a:prstGeom>
          <a:solidFill>
            <a:srgbClr val="F9FAFC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056425" y="2395728"/>
            <a:ext cx="434248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3"/>
              </a:lnSpc>
              <a:buNone/>
            </a:pPr>
            <a:r>
              <a:rPr lang="en-US" sz="1350" b="1" dirty="0">
                <a:solidFill>
                  <a:srgbClr val="141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Сценарии подбираются под роль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056425" y="2926080"/>
            <a:ext cx="43424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Участник видит только то, что относится к его работе. Обучение прерывается клавишей Esc и возобновляется позже, пройденные сценарии отмечаются, а при первом входе портал сам предлагает начать со знакомства.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873545" y="3346704"/>
            <a:ext cx="4708246" cy="1042416"/>
          </a:xfrm>
          <a:prstGeom prst="roundRect">
            <a:avLst>
              <a:gd name="adj" fmla="val 4386"/>
            </a:avLst>
          </a:prstGeom>
          <a:solidFill>
            <a:srgbClr val="F9FAFC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056425" y="3529584"/>
            <a:ext cx="434248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3"/>
              </a:lnSpc>
              <a:buNone/>
            </a:pPr>
            <a:r>
              <a:rPr lang="en-US" sz="1350" b="1" dirty="0">
                <a:solidFill>
                  <a:srgbClr val="141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Разбор схемы собирается сам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7056425" y="4059936"/>
            <a:ext cx="43424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Тот же движок подсказок, но сценарий строится на лету из данных диаграммы — 106 шагов по двадцати схемам. Новый шаг в опубликованной схеме становится шагом обучения без ручной правки сценария.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873545" y="4480560"/>
            <a:ext cx="4708246" cy="1042416"/>
          </a:xfrm>
          <a:prstGeom prst="roundRect">
            <a:avLst>
              <a:gd name="adj" fmla="val 4386"/>
            </a:avLst>
          </a:prstGeom>
          <a:solidFill>
            <a:srgbClr val="F9FAFC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056425" y="4663440"/>
            <a:ext cx="434248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3"/>
              </a:lnSpc>
              <a:buNone/>
            </a:pPr>
            <a:r>
              <a:rPr lang="en-US" sz="1350" b="1" dirty="0">
                <a:solidFill>
                  <a:srgbClr val="141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Два уровня, а не один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7056425" y="5193792"/>
            <a:ext cx="43424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по схеме объясняет модель процесса — что и почему происходит. Обучение по интерфейсу показывает, где именно выполнять эти шаги в портале.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609905" y="5715000"/>
            <a:ext cx="109718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14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глубины.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Сценарий «Изменение процессов» проходит через три раздела подряд и открывает конкретное предложение — доска, замечания на шагах, редактор, сводка изменений, лист согласования, вступление в силу. Он объясняет не расположение кнопок, а порядок работы.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09905" y="6291072"/>
            <a:ext cx="10971886" cy="0"/>
          </a:xfrm>
          <a:prstGeom prst="line">
            <a:avLst/>
          </a:prstGeom>
          <a:noFill/>
          <a:ln w="12700">
            <a:solidFill>
              <a:srgbClr val="DFE4E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9905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Social1 · Управление реинжинирингом и коммуникациями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066739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905" y="457200"/>
            <a:ext cx="109718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СВЯЗКА КОМПОНЕНТОВ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09905" y="731520"/>
            <a:ext cx="1097188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34"/>
              </a:lnSpc>
              <a:buNone/>
            </a:pPr>
            <a:r>
              <a:rPr lang="en-US" sz="3100" b="1" dirty="0">
                <a:solidFill>
                  <a:srgbClr val="141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Пять компонентов — один маршрут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1426464"/>
            <a:ext cx="965525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пример: при приёме документов заявитель дважды подтверждает одни и те же сведения. Каждый переход ниже — не пересылка файла между разделами, а передача работы внутри одной модели.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905" y="2212848"/>
            <a:ext cx="3504895" cy="1298448"/>
          </a:xfrm>
          <a:prstGeom prst="roundRect">
            <a:avLst>
              <a:gd name="adj" fmla="val 3521"/>
            </a:avLst>
          </a:prstGeom>
          <a:solidFill>
            <a:srgbClr val="F9FAFC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1073" y="2395728"/>
            <a:ext cx="256032" cy="25603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11073" y="23957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140257" y="2395728"/>
            <a:ext cx="1051560" cy="256032"/>
          </a:xfrm>
          <a:prstGeom prst="roundRect">
            <a:avLst>
              <a:gd name="adj" fmla="val 178571"/>
            </a:avLst>
          </a:prstGeom>
          <a:solidFill>
            <a:srgbClr val="DDE9F9"/>
          </a:solidFill>
          <a:ln w="12700">
            <a:solidFill>
              <a:srgbClr val="DDE9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0257" y="23957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5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Компонент 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11073" y="2743200"/>
            <a:ext cx="31025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Сотрудник фиксирует проблему за минуту. Платформа тут же показывает похожие идеи и практики, которые в других учреждениях уже сработали.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43400" y="2212848"/>
            <a:ext cx="3504895" cy="1298448"/>
          </a:xfrm>
          <a:prstGeom prst="roundRect">
            <a:avLst>
              <a:gd name="adj" fmla="val 3521"/>
            </a:avLst>
          </a:prstGeom>
          <a:solidFill>
            <a:srgbClr val="F9FAFC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44568" y="2395728"/>
            <a:ext cx="256032" cy="25603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44568" y="23957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73752" y="2395728"/>
            <a:ext cx="1051560" cy="256032"/>
          </a:xfrm>
          <a:prstGeom prst="roundRect">
            <a:avLst>
              <a:gd name="adj" fmla="val 178571"/>
            </a:avLst>
          </a:prstGeom>
          <a:solidFill>
            <a:srgbClr val="DDE9F9"/>
          </a:solidFill>
          <a:ln w="12700">
            <a:solidFill>
              <a:srgbClr val="DDE9F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73752" y="23957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5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Компонент 1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44568" y="2743200"/>
            <a:ext cx="31025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Коллеги предлагают решения, ревью карточками поднимает лучшее в топ, модератор подтверждает опыт. Автор отмечает то, что помогло.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76895" y="2212848"/>
            <a:ext cx="3504895" cy="1298448"/>
          </a:xfrm>
          <a:prstGeom prst="roundRect">
            <a:avLst>
              <a:gd name="adj" fmla="val 3521"/>
            </a:avLst>
          </a:prstGeom>
          <a:solidFill>
            <a:srgbClr val="F9FAFC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78063" y="2395728"/>
            <a:ext cx="256032" cy="25603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78063" y="23957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607247" y="2395728"/>
            <a:ext cx="1051560" cy="256032"/>
          </a:xfrm>
          <a:prstGeom prst="roundRect">
            <a:avLst>
              <a:gd name="adj" fmla="val 178571"/>
            </a:avLst>
          </a:prstGeom>
          <a:solidFill>
            <a:srgbClr val="DDE9F9"/>
          </a:solidFill>
          <a:ln w="12700">
            <a:solidFill>
              <a:srgbClr val="DDE9F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07247" y="23957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Компонент 2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278063" y="2743200"/>
            <a:ext cx="31025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Решению нужен проект — идея поднимается до инициативы с сохранением авторства и входит в конвейер: ворота, прототип, пилотная площадка.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09905" y="3675888"/>
            <a:ext cx="3504895" cy="1298448"/>
          </a:xfrm>
          <a:prstGeom prst="roundRect">
            <a:avLst>
              <a:gd name="adj" fmla="val 3521"/>
            </a:avLst>
          </a:prstGeom>
          <a:solidFill>
            <a:srgbClr val="F9FAFC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1073" y="3858768"/>
            <a:ext cx="256032" cy="25603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1073" y="38587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140257" y="3858768"/>
            <a:ext cx="1051560" cy="256032"/>
          </a:xfrm>
          <a:prstGeom prst="roundRect">
            <a:avLst>
              <a:gd name="adj" fmla="val 178571"/>
            </a:avLst>
          </a:prstGeom>
          <a:solidFill>
            <a:srgbClr val="E3F5EC"/>
          </a:solidFill>
          <a:ln w="12700">
            <a:solidFill>
              <a:srgbClr val="E3F5E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140257" y="38587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Компонент 4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11073" y="4206240"/>
            <a:ext cx="31025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Пилоту нужны данные — координатор собирает их формой со справочником учреждений, а условные вопросы уточняют детали только там, где эффект есть.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343400" y="3675888"/>
            <a:ext cx="3504895" cy="1298448"/>
          </a:xfrm>
          <a:prstGeom prst="roundRect">
            <a:avLst>
              <a:gd name="adj" fmla="val 3521"/>
            </a:avLst>
          </a:prstGeom>
          <a:solidFill>
            <a:srgbClr val="F9FAFC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44568" y="3858768"/>
            <a:ext cx="256032" cy="25603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44568" y="38587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73752" y="3858768"/>
            <a:ext cx="1051560" cy="256032"/>
          </a:xfrm>
          <a:prstGeom prst="roundRect">
            <a:avLst>
              <a:gd name="adj" fmla="val 178571"/>
            </a:avLst>
          </a:prstGeom>
          <a:solidFill>
            <a:srgbClr val="F0E9F9"/>
          </a:solidFill>
          <a:ln w="12700">
            <a:solidFill>
              <a:srgbClr val="F0E9F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873752" y="38587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Компонент 3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544568" y="4206240"/>
            <a:ext cx="31025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Эффект подтверждён — решение оформляется предложением об изменении схемы. Лишний шаг убирают, согласуют те, чьи дорожки затронуты.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076895" y="3675888"/>
            <a:ext cx="3504895" cy="1298448"/>
          </a:xfrm>
          <a:prstGeom prst="roundRect">
            <a:avLst>
              <a:gd name="adj" fmla="val 3521"/>
            </a:avLst>
          </a:prstGeom>
          <a:solidFill>
            <a:srgbClr val="F9FAFC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78063" y="3858768"/>
            <a:ext cx="256032" cy="256032"/>
          </a:xfrm>
          <a:prstGeom prst="ellipse">
            <a:avLst/>
          </a:prstGeom>
          <a:solidFill>
            <a:srgbClr val="1A7F52"/>
          </a:solidFill>
          <a:ln w="12700">
            <a:solidFill>
              <a:srgbClr val="1A7F5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278063" y="38587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607247" y="3858768"/>
            <a:ext cx="1051560" cy="256032"/>
          </a:xfrm>
          <a:prstGeom prst="roundRect">
            <a:avLst>
              <a:gd name="adj" fmla="val 178571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607247" y="38587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Компонент 5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278063" y="4206240"/>
            <a:ext cx="31025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опубликована: конвейер пересобран, а разбор нового шага появляется в обучении сам — он собирается из данных диаграммы.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09905" y="5230368"/>
            <a:ext cx="10971886" cy="841248"/>
          </a:xfrm>
          <a:prstGeom prst="roundRect">
            <a:avLst>
              <a:gd name="adj" fmla="val 5435"/>
            </a:avLst>
          </a:prstGeom>
          <a:solidFill>
            <a:srgbClr val="EFF5FD"/>
          </a:solidFill>
          <a:ln w="12700">
            <a:solidFill>
              <a:srgbClr val="DDE9F9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65937" y="5394960"/>
            <a:ext cx="104598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здесь существенно: 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один переход не потребовал правки исходного кода и ни один не потерял автора. Проблема, решение, доказательство и изменённый регламент связаны одной цепочкой записей.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09905" y="6291072"/>
            <a:ext cx="10971886" cy="0"/>
          </a:xfrm>
          <a:prstGeom prst="line">
            <a:avLst/>
          </a:prstGeom>
          <a:noFill/>
          <a:ln w="12700">
            <a:solidFill>
              <a:srgbClr val="DFE4ED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09905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Social1 · Управление реинжинирингом и коммуникациями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1066739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905" y="457200"/>
            <a:ext cx="109718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ОСНОВАНИЕ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09905" y="731520"/>
            <a:ext cx="1097188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34"/>
              </a:lnSpc>
              <a:buNone/>
            </a:pPr>
            <a:r>
              <a:rPr lang="en-US" sz="3100" b="1" dirty="0">
                <a:solidFill>
                  <a:srgbClr val="141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делает этот поток управляемым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1426464"/>
            <a:ext cx="965525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Компоненты держатся на общем слое: роли, сроки, журнал и метрики одни и те же для идей, инициатив, изменений процессов и форм.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905" y="2212848"/>
            <a:ext cx="3504895" cy="1664208"/>
          </a:xfrm>
          <a:prstGeom prst="roundRect">
            <a:avLst>
              <a:gd name="adj" fmla="val 2747"/>
            </a:avLst>
          </a:prstGeom>
          <a:solidFill>
            <a:srgbClr val="F9FAFC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11073" y="2414016"/>
            <a:ext cx="31025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45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ПРАВА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11073" y="2660904"/>
            <a:ext cx="310255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3"/>
              </a:lnSpc>
              <a:buNone/>
            </a:pPr>
            <a:r>
              <a:rPr lang="en-US" sz="1350" b="1" dirty="0">
                <a:solidFill>
                  <a:srgbClr val="141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Роли живут в данных, а не в коде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11073" y="3191256"/>
            <a:ext cx="3102559" cy="565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Администратор заводит роль, передаёт право и назначает участнику дополнительные роли без правки исходников и пересборки. Права нескольких ролей складываются.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2212848"/>
            <a:ext cx="3504895" cy="1664208"/>
          </a:xfrm>
          <a:prstGeom prst="roundRect">
            <a:avLst>
              <a:gd name="adj" fmla="val 2747"/>
            </a:avLst>
          </a:prstGeom>
          <a:solidFill>
            <a:srgbClr val="F9FAFC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44568" y="2414016"/>
            <a:ext cx="31025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45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СРОКИ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544568" y="2660904"/>
            <a:ext cx="310255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3"/>
              </a:lnSpc>
              <a:buNone/>
            </a:pPr>
            <a:r>
              <a:rPr lang="en-US" sz="1350" b="1" dirty="0">
                <a:solidFill>
                  <a:srgbClr val="141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Один расчёт срока на всё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544568" y="3191256"/>
            <a:ext cx="3102559" cy="565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Ворота, согласования изменений и задачи используют общий примитив: срок, предупреждение о риске превышения, автоматическая эскалация просрочки координатору.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76895" y="2212848"/>
            <a:ext cx="3504895" cy="1664208"/>
          </a:xfrm>
          <a:prstGeom prst="roundRect">
            <a:avLst>
              <a:gd name="adj" fmla="val 2747"/>
            </a:avLst>
          </a:prstGeom>
          <a:solidFill>
            <a:srgbClr val="F9FAFC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78063" y="2414016"/>
            <a:ext cx="31025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45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ДОВЕРИЕ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278063" y="2660904"/>
            <a:ext cx="310255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3"/>
              </a:lnSpc>
              <a:buNone/>
            </a:pPr>
            <a:r>
              <a:rPr lang="en-US" sz="1350" b="1" dirty="0">
                <a:solidFill>
                  <a:srgbClr val="141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Журнал, который нельзя переписать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8278063" y="3191256"/>
            <a:ext cx="3102559" cy="565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Записи аудита связаны цепочкой SHA-256: правка задним числом ломает цепочку и выявляется проверкой целостности. Защита продублирована триггерами базы данных.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9905" y="4023360"/>
            <a:ext cx="3504895" cy="1664208"/>
          </a:xfrm>
          <a:prstGeom prst="roundRect">
            <a:avLst>
              <a:gd name="adj" fmla="val 2747"/>
            </a:avLst>
          </a:prstGeom>
          <a:solidFill>
            <a:srgbClr val="F9FAFC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11073" y="4224528"/>
            <a:ext cx="31025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45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ИЗМЕРЕНИЕ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811073" y="4471416"/>
            <a:ext cx="310255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3"/>
              </a:lnSpc>
              <a:buNone/>
            </a:pPr>
            <a:r>
              <a:rPr lang="en-US" sz="1350" b="1" dirty="0">
                <a:solidFill>
                  <a:srgbClr val="141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группы показателей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811073" y="5001768"/>
            <a:ext cx="3102559" cy="565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Вовлечённость и культура; скорость и эффективность; качество и риски. Kill не считается негативным показателем: он означает, что система отсеивает нежизнеспособное и экономит ресурс.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43400" y="4023360"/>
            <a:ext cx="3504895" cy="1664208"/>
          </a:xfrm>
          <a:prstGeom prst="roundRect">
            <a:avLst>
              <a:gd name="adj" fmla="val 2747"/>
            </a:avLst>
          </a:prstGeom>
          <a:solidFill>
            <a:srgbClr val="F9FAFC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44568" y="4224528"/>
            <a:ext cx="31025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45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АЛГОРИТМЫ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544568" y="4471416"/>
            <a:ext cx="310255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3"/>
              </a:lnSpc>
              <a:buNone/>
            </a:pPr>
            <a:r>
              <a:rPr lang="en-US" sz="1350" b="1" dirty="0">
                <a:solidFill>
                  <a:srgbClr val="141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ИИ помогает, но не решает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4544568" y="5001768"/>
            <a:ext cx="3102559" cy="565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Классификация направлений, поиск похожих инициатив, анализ обратной связи пилотов, прогноз успеха — каждый результат с раскрытием факторов. Решения на воротах принимает человек.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076895" y="4023360"/>
            <a:ext cx="3504895" cy="1664208"/>
          </a:xfrm>
          <a:prstGeom prst="roundRect">
            <a:avLst>
              <a:gd name="adj" fmla="val 2747"/>
            </a:avLst>
          </a:prstGeom>
          <a:solidFill>
            <a:srgbClr val="F9FAFC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78063" y="4224528"/>
            <a:ext cx="31025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45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РАЗВИТИЕ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8278063" y="4471416"/>
            <a:ext cx="310255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3"/>
              </a:lnSpc>
              <a:buNone/>
            </a:pPr>
            <a:r>
              <a:rPr lang="en-US" sz="1350" b="1" dirty="0">
                <a:solidFill>
                  <a:srgbClr val="141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Расширение заложено в устройство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8278063" y="5001768"/>
            <a:ext cx="3102559" cy="565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Слой API отделён от интерфейса, конфигурация процесса вынесена в редактируемую модель, открытые REST-эндпоинты позволяют подключить кадровые системы и порталы услуг без правки ядра.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09905" y="6291072"/>
            <a:ext cx="10971886" cy="0"/>
          </a:xfrm>
          <a:prstGeom prst="line">
            <a:avLst/>
          </a:prstGeom>
          <a:noFill/>
          <a:ln w="12700">
            <a:solidFill>
              <a:srgbClr val="DFE4E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09905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Social1 · Управление реинжинирингом и коммуникациями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066739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905" y="457200"/>
            <a:ext cx="109718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09905" y="731520"/>
            <a:ext cx="1097188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34"/>
              </a:lnSpc>
              <a:buNone/>
            </a:pPr>
            <a:r>
              <a:rPr lang="en-US" sz="3100" b="1" dirty="0">
                <a:solidFill>
                  <a:srgbClr val="141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получает организация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09905" y="1691640"/>
            <a:ext cx="3504895" cy="2331720"/>
          </a:xfrm>
          <a:prstGeom prst="roundRect">
            <a:avLst>
              <a:gd name="adj" fmla="val 1961"/>
            </a:avLst>
          </a:prstGeom>
          <a:solidFill>
            <a:srgbClr val="E3F5EC"/>
          </a:solidFill>
          <a:ln w="12700">
            <a:solidFill>
              <a:srgbClr val="E3F5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84225" y="1938528"/>
            <a:ext cx="29562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900" b="1" dirty="0">
                <a:solidFill>
                  <a:srgbClr val="141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Поток внедрений вместо базы предложений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84225" y="2889504"/>
            <a:ext cx="29562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Конечный продукт платформы — не список идей и не архив служебных записок, а поток реально внедрённых улучшений услуг и административных процессов.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691640"/>
            <a:ext cx="3504895" cy="2331720"/>
          </a:xfrm>
          <a:prstGeom prst="roundRect">
            <a:avLst>
              <a:gd name="adj" fmla="val 1961"/>
            </a:avLst>
          </a:prstGeom>
          <a:solidFill>
            <a:srgbClr val="EFF5FD"/>
          </a:solidFill>
          <a:ln w="12700">
            <a:solidFill>
              <a:srgbClr val="EFF5F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7720" y="1938528"/>
            <a:ext cx="29562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900" b="1" dirty="0">
                <a:solidFill>
                  <a:srgbClr val="141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Изменение, которое вступает в силу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889504"/>
            <a:ext cx="29562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Согласованная правка схемы процесса пересобирает конвейер платформы. Решение меняет работу, а не пополняет папку с регламентами.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76895" y="1691640"/>
            <a:ext cx="3504895" cy="2331720"/>
          </a:xfrm>
          <a:prstGeom prst="roundRect">
            <a:avLst>
              <a:gd name="adj" fmla="val 1961"/>
            </a:avLst>
          </a:prstGeom>
          <a:solidFill>
            <a:srgbClr val="F0E9F9"/>
          </a:solidFill>
          <a:ln w="12700">
            <a:solidFill>
              <a:srgbClr val="F0E9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51215" y="1938528"/>
            <a:ext cx="29562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900" b="1" dirty="0">
                <a:solidFill>
                  <a:srgbClr val="141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Архив знаний вместо потерянного опыта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351215" y="2889504"/>
            <a:ext cx="29562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решение — с обязательной аргументацией. Отказы, повороты и паузы становятся основанием для следующих инициатив, а не молчанием в ответ автору.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9905" y="4434840"/>
            <a:ext cx="10971886" cy="1417320"/>
          </a:xfrm>
          <a:prstGeom prst="roundRect">
            <a:avLst>
              <a:gd name="adj" fmla="val 3226"/>
            </a:avLst>
          </a:prstGeom>
          <a:solidFill>
            <a:srgbClr val="F9FAFC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5937" y="467258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ТЕКУЩИЙ СТАТУС · ЧЕСТНО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2804465" y="4617720"/>
            <a:ext cx="852129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Демонстрационная версия. Хранилище — SQLite; для промышленной эксплуатации требуется СУБД с репликацией и шифрованием на уровне хранения. Уведомления доставляются внутри платформы: электронная почта и SMS не подключены. Интеграции с внешними системами по техническому заданию на этом этапе не требуются. Загрузка файлов ограничена ссылками на материалы.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9905" y="6291072"/>
            <a:ext cx="10971886" cy="0"/>
          </a:xfrm>
          <a:prstGeom prst="line">
            <a:avLst/>
          </a:prstGeom>
          <a:noFill/>
          <a:ln w="12700">
            <a:solidFill>
              <a:srgbClr val="DFE4E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9905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Social1 · Управление реинжинирингом и коммуникациями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066739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продукта Social1</dc:title>
  <dc:subject>Платформа управления планированием реинжиниринга</dc:subject>
  <dc:creator>Social1</dc:creator>
  <cp:lastModifiedBy>Social1</cp:lastModifiedBy>
  <cp:revision>1</cp:revision>
  <dcterms:created xsi:type="dcterms:W3CDTF">2026-09-09T09:09:49Z</dcterms:created>
  <dcterms:modified xsi:type="dcterms:W3CDTF">2026-09-09T09:09:49Z</dcterms:modified>
</cp:coreProperties>
</file>