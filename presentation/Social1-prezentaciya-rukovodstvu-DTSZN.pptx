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Представиться и обозначить: речь не о ещё одной информационной системе, а об управленческой технологии, у которой уже есть работающая платформа.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проблема не в отсутствии идей, а в отсутствии управляемого пути от идеи до изменения.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Отличие от классической книги предложений: у каждой инициативы есть путь, а у пути — сроки и ответственные.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управленческий тезис всей презентации: строгий и быстрый отбор на первых воротах — это не бюрократия, а экономия месяцев работы.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важно проговорить: ворота — не согласование, а точка с заранее известными критериями и одним ответственным.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 к слайду: критерии известны автору заранее — он может подготовить инициативу так, чтобы её было можно оценить.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4 — самая важная точка: она отделяет решения, которые действительно работают, от тех, что казались удачными.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и Redirect — то, чего нет в обычной практике: инициатива не отклоняется, а возвращается с конкретным перечнем недостающего.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на вопрос «а если сроки или критерии окажутся неудачными» — они меняются в интерфейсе, без обращения к разработчикам.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Отбор не работает, если ворота не закреплены за конкретными людьми. Это подводка к слайду с решениями руководства.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Портал можно показать вживую после доклада — он запускается локально.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Обязательно оговорить вслух: цифры демонстрационные. Они показывают состав показателей, а не результат Департамента.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процесс отбора не закреплён нормативно, платформа не спасёт — отсюда следующие слайды.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Календарь намеренно не проставлен: он зависит от состава пилотной группы, который утверждает руководство.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— предмет обсуждения. Четыре решения, без которых отбор не запустится.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035040" cy="603504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0292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502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33856" y="5029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7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 СИСТЕМНЫХ ИННОВАЦИЙ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3172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проблемы на рабочем месте — до внедрённого решения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2062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Управленческая платформа для выявления, разработки, проверки и тиражирования инициатив сотрудников учреждений ДТСЗН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8064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Департамент труда и социальной защиты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3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населения города Москвы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58064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Докладчик и дата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3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[ФИО, должность] · [дата]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Сотрудник видит проблему первым. Изменение приходит последним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86251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сотрудник учреждения ежедневно работает с гражданами, регламентами и социальными технологиями — и первым сталкивается с избыточной операцией или новой потребностью. Но путь от увиденной проблемы до изменения регламента или сервиса сегодня не управляем.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926080"/>
            <a:ext cx="5346040" cy="3063240"/>
          </a:xfrm>
          <a:prstGeom prst="roundRect">
            <a:avLst>
              <a:gd name="adj" fmla="val 1791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3154680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3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СЕЙЧАС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611880"/>
            <a:ext cx="479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Инициатива уходит «наверх» и теряется из виду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сроков — решение может не приниматься месяцами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приходит без объяснения — мотивация падает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не измеряется, опыт не накапливается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2926080"/>
            <a:ext cx="5346040" cy="3063240"/>
          </a:xfrm>
          <a:prstGeom prst="roundRect">
            <a:avLst>
              <a:gd name="adj" fmla="val 1791"/>
            </a:avLst>
          </a:prstGeom>
          <a:solidFill>
            <a:srgbClr val="EFF5FD"/>
          </a:solidFill>
          <a:ln w="12700">
            <a:solidFill>
              <a:srgbClr val="2450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3154680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SOCIAL1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611880"/>
            <a:ext cx="4797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–"/>
            </a:pPr>
            <a:r>
              <a:rPr lang="en-US" sz="14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инициатива имеет номер, этап и ответственного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шаге — срок, который контролирует система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решение сопровождается обоснованием</a:t>
            </a:r>
            <a:endParaRPr lang="en-US" sz="145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проверяется на пилоте до тиражирования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Social1 — не книга предложений, а конвейер изменений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472586" cy="41148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77440"/>
            <a:ext cx="3472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Управленческая технология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154680"/>
            <a:ext cx="34725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правила игры: кто решает, по каким критериям и в какой срок. Цифровая платформа лишь автоматизирует эти правила и делает их прозрачными.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59554" y="2148840"/>
            <a:ext cx="3472586" cy="41148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59554" y="2377440"/>
            <a:ext cx="3472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 — сотрудник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359554" y="3154680"/>
            <a:ext cx="34725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не только спускаются сверху, но и системно поднимаются снизу — от тех, кто непосредственно работает с услугами и процессами.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2181" y="2148840"/>
            <a:ext cx="3472586" cy="41148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52181" y="2377440"/>
            <a:ext cx="3472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— поток внедрений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152181" y="3154680"/>
            <a:ext cx="34725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Конечный результат экосистемы — не количество поданных идей, а поток реально внедрённых улучшений социальных услуг и процессов.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892040"/>
            <a:ext cx="11057839" cy="1097280"/>
          </a:xfrm>
          <a:prstGeom prst="roundRect">
            <a:avLst>
              <a:gd name="adj" fmla="val 5000"/>
            </a:avLst>
          </a:prstGeom>
          <a:solidFill>
            <a:srgbClr val="122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5138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ЦИКЛ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5120640"/>
            <a:ext cx="83146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pPr indent="0" marL="0">
              <a:buNone/>
            </a:pPr>
            <a:r>
              <a:rPr lang="en-US" sz="145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Инициатива</a:t>
            </a:r>
            <a:pPr indent="0" marL="0">
              <a:buNone/>
            </a:pPr>
            <a:r>
              <a:rPr lang="en-US" sz="145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</a:t>
            </a:r>
            <a:pPr indent="0" marL="0">
              <a:buNone/>
            </a:pPr>
            <a:r>
              <a:rPr lang="en-US" sz="145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pPr indent="0" marL="0">
              <a:buNone/>
            </a:pPr>
            <a:r>
              <a:rPr lang="en-US" sz="145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</a:t>
            </a:r>
            <a:pPr indent="0" marL="0">
              <a:buNone/>
            </a:pPr>
            <a:r>
              <a:rPr lang="en-US" sz="145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</a:t>
            </a:r>
            <a:pPr indent="0" marL="0">
              <a:buNone/>
            </a:pPr>
            <a:r>
              <a:rPr lang="en-US" sz="145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50" b="1" dirty="0">
                <a:solidFill>
                  <a:srgbClr val="7FD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ОТБОРА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Отсеивать рано и дёшево — цена отказа растёт с каждым этапом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20240"/>
            <a:ext cx="86251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устроены так, чтобы отказ приходил на самом дешёвом из возможных этапов. Инициатива, остановленная за 3 дня, стоит времени одного руководителя; та же инициатива после пилота — двух месяцев разработки и месяца работы учреждения.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8595360" cy="384048"/>
          </a:xfrm>
          <a:prstGeom prst="roundRect">
            <a:avLst>
              <a:gd name="adj" fmla="val 9524"/>
            </a:avLst>
          </a:prstGeom>
          <a:solidFill>
            <a:srgbClr val="DDE9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Подано инициатив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278892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вложено: время автора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345168" y="2788920"/>
            <a:ext cx="22795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из четырёх вопросов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291840"/>
            <a:ext cx="7132320" cy="384048"/>
          </a:xfrm>
          <a:prstGeom prst="roundRect">
            <a:avLst>
              <a:gd name="adj" fmla="val 9524"/>
            </a:avLst>
          </a:prstGeom>
          <a:solidFill>
            <a:srgbClr val="BCD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Прошли Gate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329184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рабочих дня руководителя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882128" y="3291840"/>
            <a:ext cx="3742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отсев: не соответствует регламентам или бюджету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794760"/>
            <a:ext cx="5669280" cy="384048"/>
          </a:xfrm>
          <a:prstGeom prst="roundRect">
            <a:avLst>
              <a:gd name="adj" fmla="val 9524"/>
            </a:avLst>
          </a:prstGeom>
          <a:solidFill>
            <a:srgbClr val="8FB9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Прошли Gate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37947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рабочих дней экспертизы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794760"/>
            <a:ext cx="52056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отсев: нет стратегической значимости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297680"/>
            <a:ext cx="4206240" cy="384048"/>
          </a:xfrm>
          <a:prstGeom prst="roundRect">
            <a:avLst>
              <a:gd name="adj" fmla="val 9524"/>
            </a:avLst>
          </a:prstGeom>
          <a:solidFill>
            <a:srgbClr val="5B91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Прошли Gate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56048" y="4297680"/>
            <a:ext cx="66687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месяца разработки · отсев: прототип не подтвердил замысел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2834640" cy="384048"/>
          </a:xfrm>
          <a:prstGeom prst="roundRect">
            <a:avLst>
              <a:gd name="adj" fmla="val 9524"/>
            </a:avLst>
          </a:prstGeom>
          <a:solidFill>
            <a:srgbClr val="2F6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4800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Прошли Gate 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84448" y="4800600"/>
            <a:ext cx="8040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месяц работы пилотного учреждения · отсев: эффект не доказан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303520"/>
            <a:ext cx="1737360" cy="384048"/>
          </a:xfrm>
          <a:prstGeom prst="roundRect">
            <a:avLst>
              <a:gd name="adj" fmla="val 9524"/>
            </a:avLst>
          </a:prstGeom>
          <a:solidFill>
            <a:srgbClr val="1A7F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" y="530352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Внедрено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487168" y="5303520"/>
            <a:ext cx="91375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с подтверждённым эффектом уходит в тиражирование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806440"/>
            <a:ext cx="41148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806440"/>
            <a:ext cx="516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Узкое место видно сразу.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Если большинство инициатив останавливается на одних воротах — там не хватает экспертизы, ресурсов или норматив занижен.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5806440"/>
            <a:ext cx="41148" cy="548640"/>
          </a:xfrm>
          <a:prstGeom prst="rect">
            <a:avLst/>
          </a:prstGeom>
          <a:solidFill>
            <a:srgbClr val="1A7F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7600" y="5806440"/>
            <a:ext cx="516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— это результат.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Он экономит ресурс и попадает в архив опыта, а автор получает объяснение, а не молчание.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стадий, пять точек принятия решений, срок на каждой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86251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«этап — ворота»: работы отделены от решений. На каждой точке решает один ответственный участник.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1766773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715768"/>
            <a:ext cx="1474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944368"/>
            <a:ext cx="14741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Фиксация проблемы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493008"/>
            <a:ext cx="1474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ворот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5141" y="2606040"/>
            <a:ext cx="1766773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1445" y="2715768"/>
            <a:ext cx="1474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571445" y="2944368"/>
            <a:ext cx="14741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руководителем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71445" y="3493008"/>
            <a:ext cx="1474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3 раб. дня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83354" y="2606040"/>
            <a:ext cx="1766773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29658" y="2715768"/>
            <a:ext cx="1474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29658" y="2944368"/>
            <a:ext cx="14741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 ДТСЗН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29658" y="3493008"/>
            <a:ext cx="1474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5 раб. дней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41568" y="2606040"/>
            <a:ext cx="1766773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87872" y="2715768"/>
            <a:ext cx="1474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87872" y="2944368"/>
            <a:ext cx="14741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прототипа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87872" y="3493008"/>
            <a:ext cx="1474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4 спринта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99781" y="2606040"/>
            <a:ext cx="1766773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46085" y="2715768"/>
            <a:ext cx="1474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146085" y="2944368"/>
            <a:ext cx="14741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Пилотирование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46085" y="3493008"/>
            <a:ext cx="1474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· 1 месяц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57994" y="2606040"/>
            <a:ext cx="1766773" cy="1234440"/>
          </a:xfrm>
          <a:prstGeom prst="roundRect">
            <a:avLst>
              <a:gd name="adj" fmla="val 3704"/>
            </a:avLst>
          </a:prstGeom>
          <a:solidFill>
            <a:srgbClr val="12294C"/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04298" y="2715768"/>
            <a:ext cx="1474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7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5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004298" y="2944368"/>
            <a:ext cx="147416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04298" y="3493008"/>
            <a:ext cx="1474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 · 2 недели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3977640"/>
            <a:ext cx="11057839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41788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ЛЮБЫХ ВОРОТ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59536" y="4507992"/>
            <a:ext cx="1984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59536" y="4800600"/>
            <a:ext cx="19847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запускает рассмотрение и когда начинается отсчёт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981493" y="4507992"/>
            <a:ext cx="1984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2981493" y="4800600"/>
            <a:ext cx="19847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роль, а не коллегиальное «мы подумаем»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103449" y="4507992"/>
            <a:ext cx="1984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103449" y="4800600"/>
            <a:ext cx="19847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Заданы заранее, оцениваются по каждому отдельно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225406" y="4507992"/>
            <a:ext cx="1984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225406" y="4800600"/>
            <a:ext cx="19847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Контролируется системой, просрочка эскалируется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347363" y="4507992"/>
            <a:ext cx="1984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347363" y="4800600"/>
            <a:ext cx="198479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заданного перечня, с обязательным обоснованием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583387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что именно оценивается на каждых воротах и какими доказательствами это подтверждается.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ИДЕЙ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Ворота 1 и 2: от «есть идея» до «беремся разрабатывать»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534604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103120"/>
            <a:ext cx="534604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333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руководитель учреждения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21328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рабочих дня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61488"/>
            <a:ext cx="487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ОЦЕНИВАЕТ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17520"/>
            <a:ext cx="4870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внутренним политикам и регламентам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 потенциала для локального улучшения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Реалистичность в рамках бюджетных ограничений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877056"/>
            <a:ext cx="487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ЧЁМ ОСНОВАНО РЕШЕНИЕ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133088"/>
            <a:ext cx="487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проблемы с фактическими данными автора, количественная оценка эффекта, поддержка коллег на доске идей, подсказка о похожих инициативах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956048"/>
            <a:ext cx="487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ВОЗМОЖНЫЕ РЕШЕНИЯ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" y="5230368"/>
            <a:ext cx="448056" cy="25603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5230368"/>
            <a:ext cx="448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44168" y="523036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44168" y="523036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39112" y="5230368"/>
            <a:ext cx="603504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39112" y="523036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34056" y="52303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0E9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34056" y="5230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8728" y="2103120"/>
            <a:ext cx="534604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103120"/>
            <a:ext cx="5346040" cy="502920"/>
          </a:xfrm>
          <a:prstGeom prst="rect">
            <a:avLst/>
          </a:prstGeom>
          <a:solidFill>
            <a:srgbClr val="2450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6472" y="2103120"/>
            <a:ext cx="333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— комитет экспертов ДТСЗН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933127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рабочих дней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16472" y="2761488"/>
            <a:ext cx="487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ОЦЕНИВАЕТ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16472" y="3017520"/>
            <a:ext cx="48705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Стратегическая совместимость с целями Департамента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масштабирования на другие учреждения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эффект и его измеримость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осуществимость на уровне идеи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16472" y="4114800"/>
            <a:ext cx="487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ЧЁМ ОСНОВАНО РЕШЕНИЕ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16472" y="4370832"/>
            <a:ext cx="487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и обоснование руководителя, оценка похожих инициатив в системе, заключение команды цифровой трансформации о выполнимости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16472" y="5193792"/>
            <a:ext cx="487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ФИКСИРУЕТСЯ ПРИ GO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516472" y="5449824"/>
            <a:ext cx="487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Показатели, по которым позже будет оцениваться пилот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5852160"/>
            <a:ext cx="11057839" cy="411480"/>
          </a:xfrm>
          <a:prstGeom prst="roundRect">
            <a:avLst>
              <a:gd name="adj" fmla="val 11111"/>
            </a:avLst>
          </a:prstGeom>
          <a:solidFill>
            <a:srgbClr val="EFF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248" y="5852160"/>
            <a:ext cx="105091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ведётся по каждому критерию отдельно, баллами. </a:t>
            </a:r>
            <a:pPr indent="0" marL="0">
              <a:buNone/>
            </a:pPr>
            <a:r>
              <a:rPr lang="en-US" sz="120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 сохраняются в карточке инициативы вместе с обоснованием — решение нельзя свести к «не подходит».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РЕШЕНИЙ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Ворота 3, 4 и 5: от прототипа до тиражирования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86251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отбор идёт не по замыслу, а по доказательствам: работает ли решение, подтвердился ли обещанный эффект, готова ли сеть учреждений его принять.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533546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606040"/>
            <a:ext cx="3533546" cy="658368"/>
          </a:xfrm>
          <a:prstGeom prst="rect">
            <a:avLst/>
          </a:prstGeom>
          <a:solidFill>
            <a:srgbClr val="2F6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697480"/>
            <a:ext cx="30946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— готовность прототипа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971800"/>
            <a:ext cx="30946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продакт-менеджер ДТСЗН · 4 спринта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401568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639312"/>
            <a:ext cx="3094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Достигнуты цели спринтов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работающий MVP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Положительная обратная связь на демонстрациях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5029200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5266944"/>
            <a:ext cx="3094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будущим пользователям до пилота, а не после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9074" y="2606040"/>
            <a:ext cx="3533546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9074" y="2606040"/>
            <a:ext cx="3533546" cy="658368"/>
          </a:xfrm>
          <a:prstGeom prst="rect">
            <a:avLst/>
          </a:prstGeom>
          <a:solidFill>
            <a:srgbClr val="2450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8530" y="2697480"/>
            <a:ext cx="30946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 — результаты пилота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971800"/>
            <a:ext cx="30946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пилотов · 1 месяц + неделя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3401568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48530" y="3639312"/>
            <a:ext cx="3094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Заявленный эффект подтверждён фактическими данными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удовлетворённость пользователей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критических технических и организационных проблем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Соблюдены требования к защите данных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48530" y="5029200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ДОКАЗАТЕЛЬСТВО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48530" y="5266944"/>
            <a:ext cx="3094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«до» и «после», опросы сотрудников и граждан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1221" y="2606040"/>
            <a:ext cx="3533546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1221" y="2606040"/>
            <a:ext cx="3533546" cy="658368"/>
          </a:xfrm>
          <a:prstGeom prst="rect">
            <a:avLst/>
          </a:prstGeom>
          <a:solidFill>
            <a:srgbClr val="122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10677" y="2697480"/>
            <a:ext cx="30946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 — решение о тиражировании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310677" y="2971800"/>
            <a:ext cx="30946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ДТСЗН · начало в течение 2 недель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10677" y="3401568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310677" y="3639312"/>
            <a:ext cx="30946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Подтверждённый эффект пилота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других учреждений к внедрению</a:t>
            </a:r>
            <a:endParaRPr lang="en-US" sz="1200" dirty="0"/>
          </a:p>
          <a:p>
            <a:pPr indent="0" marL="0">
              <a:lnSpc>
                <a:spcPts val="155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 финансовых и кадровых ресурсов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10677" y="5029200"/>
            <a:ext cx="30946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KILL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310677" y="5266944"/>
            <a:ext cx="30946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остаётся в библиотеке практик для добровольного внедрения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897880"/>
            <a:ext cx="41148" cy="384048"/>
          </a:xfrm>
          <a:prstGeom prst="rect">
            <a:avLst/>
          </a:prstGeom>
          <a:solidFill>
            <a:srgbClr val="B3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5897880"/>
            <a:ext cx="10829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отсеиваются решения, которые хорошо выглядели на бумаге.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поэтому эффект заявляется числом уже при подаче: на Gate 4 прогноз сравнивается с фактом.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 РЕШЕНИЯ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решения — и у каждого свой маршрут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86251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любых воротах доступен один и тот же набор. Отличается только то, куда инициатива уходит дальше и что происходит с вложенным в неё ресурсом.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11057839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2523744"/>
            <a:ext cx="1600200" cy="758952"/>
          </a:xfrm>
          <a:prstGeom prst="rect">
            <a:avLst/>
          </a:prstGeom>
          <a:solidFill>
            <a:srgbClr val="E3F5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624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44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продолжить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2615184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Инициатива переходит на следующий этап. Система назначает нового ответственного, создаёт ему задачу и запускает отсчёт срока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22208" y="2615184"/>
            <a:ext cx="7315" cy="576072"/>
          </a:xfrm>
          <a:prstGeom prst="rect">
            <a:avLst/>
          </a:prstGeom>
          <a:solidFill>
            <a:srgbClr val="DFE4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05088" y="2615184"/>
            <a:ext cx="269107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получает уведомление о продвижении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401568"/>
            <a:ext cx="11057839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3410712"/>
            <a:ext cx="1600200" cy="758952"/>
          </a:xfrm>
          <a:prstGeom prst="rect">
            <a:avLst/>
          </a:prstGeom>
          <a:solidFill>
            <a:srgbClr val="FBE7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8313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95728" y="3502152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прекращается, ресурс освобождается. Обоснование сохраняется в архиве и доступно при рассмотрении похожих инициатив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22208" y="3502152"/>
            <a:ext cx="7315" cy="576072"/>
          </a:xfrm>
          <a:prstGeom prst="rect">
            <a:avLst/>
          </a:prstGeom>
          <a:solidFill>
            <a:srgbClr val="DFE4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05088" y="3502152"/>
            <a:ext cx="269107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получает отказ с объяснением причины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288536"/>
            <a:ext cx="11057839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4297680"/>
            <a:ext cx="1600200" cy="758952"/>
          </a:xfrm>
          <a:prstGeom prst="rect">
            <a:avLst/>
          </a:prstGeom>
          <a:solidFill>
            <a:srgbClr val="FDF0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3982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6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718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приостановить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95728" y="4389120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Инициатива остаётся на этапе, отсчёт срока останавливается. Возобновить может автор, ответственный или координатор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22208" y="4389120"/>
            <a:ext cx="7315" cy="576072"/>
          </a:xfrm>
          <a:prstGeom prst="rect">
            <a:avLst/>
          </a:prstGeom>
          <a:solidFill>
            <a:srgbClr val="DFE4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05088" y="4389120"/>
            <a:ext cx="269107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видит, каких именно сведений не хватает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5175504"/>
            <a:ext cx="11057839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" y="5184648"/>
            <a:ext cx="1600200" cy="758952"/>
          </a:xfrm>
          <a:prstGeom prst="rect">
            <a:avLst/>
          </a:prstGeom>
          <a:solidFill>
            <a:srgbClr val="F0E9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52852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" y="56052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доработку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395728" y="5276088"/>
            <a:ext cx="5943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Возвращается на выбранный предыдущий этап с замечаниями. Частый случай — объединение с похожей инициативой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522208" y="5276088"/>
            <a:ext cx="7315" cy="576072"/>
          </a:xfrm>
          <a:prstGeom prst="rect">
            <a:avLst/>
          </a:prstGeom>
          <a:solidFill>
            <a:srgbClr val="DFE4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05088" y="5276088"/>
            <a:ext cx="269107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получает перечень того, что доработать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89788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допустимых решений задаётся для каждых ворот отдельно: например, на Gate 5 доступны только Go и Kill — возвращать на доработку решение, прошедшее пилот, поздно.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ОТБОРА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правила, которые не дают отбору стать формальностью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3689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50008"/>
            <a:ext cx="4856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без обоснования не принимается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15768"/>
            <a:ext cx="4856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отклоняет решение на воротах без аргументации. Автор всегда узнаёт, почему получил именно такой ответ, а не остаётся без объяснения.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55868" y="2148840"/>
            <a:ext cx="53689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1900" y="2350008"/>
            <a:ext cx="4856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идёт по заданным критериям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511900" y="2715768"/>
            <a:ext cx="4856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критериев для каждых ворот определён заранее. Оценка ставится по каждому отдельно и сохраняется в карточке — решение нельзя свести к «не подходит».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94760"/>
            <a:ext cx="53689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95928"/>
            <a:ext cx="4856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нельзя проигнорировать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61688"/>
            <a:ext cx="4856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Отсчёт идёт в рабочих днях и виден всем участникам. Просроченная задача автоматически эскалируется координатору экосистемы.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5868" y="3794760"/>
            <a:ext cx="53689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1900" y="3995928"/>
            <a:ext cx="48568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 неизменяем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11900" y="4361688"/>
            <a:ext cx="48568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Записи связаны криптографической цепочкой: изменение или удаление задним числом ломает цепочку и выявляется проверкой целостности.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257800"/>
            <a:ext cx="11057839" cy="868680"/>
          </a:xfrm>
          <a:prstGeom prst="roundRect">
            <a:avLst>
              <a:gd name="adj" fmla="val 5263"/>
            </a:avLst>
          </a:prstGeom>
          <a:solidFill>
            <a:srgbClr val="122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5257800"/>
            <a:ext cx="7948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3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правила настраиваются без участия разработчиков: сроки, критерии, ответственные роли и перечень допустимых решений меняются в интерфейсе и вступают в силу немедленно.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973007" y="5257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40" kern="0" dirty="0">
                <a:solidFill>
                  <a:srgbClr val="7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АДАПТИВНОСТЬ ОТБОРА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ролей, у каждой — своя зона ответственности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237744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учреждения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85292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проблему, формулирует инициативу, работает на пилоте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8538" y="219456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9706" y="237744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учреждения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89706" y="285292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процессов, первый уровень отбора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9706" y="341071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EFF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9706" y="34107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219456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1316" y="237744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 ДТСЗН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11316" y="285292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 стратегическую значимость и масштабируемость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1316" y="341071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EFF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1316" y="34107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31757" y="219456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2925" y="237744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разработки и ЦТ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32925" y="285292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Превращает идею в работающий прототип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2925" y="341071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EFF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2925" y="34107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06908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42519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пилотов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" y="472744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Ведёт проверку в реальных условиях и сбор доказательств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8096" y="528523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EFF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52852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8538" y="406908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89706" y="42519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Пилотное учреждение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589706" y="472744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 проверки: внедряет прототип и даёт обратную связь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0148" y="406908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1316" y="42519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 технологий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11316" y="472744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готовые компоненты и компетенции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31757" y="4069080"/>
            <a:ext cx="2593010" cy="1600200"/>
          </a:xfrm>
          <a:prstGeom prst="roundRect">
            <a:avLst>
              <a:gd name="adj" fmla="val 2857"/>
            </a:avLst>
          </a:prstGeom>
          <a:solidFill>
            <a:srgbClr val="12294C"/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32925" y="425196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ДТСЗН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232925" y="4727448"/>
            <a:ext cx="21906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экосистемы: портфель, приоритеты, ресурсы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232925" y="5285232"/>
            <a:ext cx="658368" cy="237744"/>
          </a:xfrm>
          <a:prstGeom prst="roundRect">
            <a:avLst>
              <a:gd name="adj" fmla="val 15385"/>
            </a:avLst>
          </a:prstGeom>
          <a:solidFill>
            <a:srgbClr val="2E4A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32925" y="528523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Платформа построена и работает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86251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все функциональные модули технического задания. Портал запускается одной командой, работает офлайн и не требует внешних сервисов.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3533546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81635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инициативами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14553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форма подачи, номер, полная карточка жизненного цикла, поиск и фильтры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9074" y="2651760"/>
            <a:ext cx="3533546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7674" y="281635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отбора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57674" y="314553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маршрутизация по воротам, задачи в кабинетах, таймеры и эскалация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1221" y="2651760"/>
            <a:ext cx="3533546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19821" y="281635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идей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19821" y="314553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инициатив с голосованием: поддержка коллег как сигнал приоритета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114800"/>
            <a:ext cx="3533546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427939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 пилоты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60857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Agile-доски и спринты, заявки площадок, KPI пилота, опросы участников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9074" y="4114800"/>
            <a:ext cx="3533546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7674" y="427939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 КПЭ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57674" y="460857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группы показателей, воронка отбора, сравнение учреждений, выгрузка отчётов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1221" y="4114800"/>
            <a:ext cx="3533546" cy="1234440"/>
          </a:xfrm>
          <a:prstGeom prst="roundRect">
            <a:avLst>
              <a:gd name="adj" fmla="val 3704"/>
            </a:avLst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19821" y="4279392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Сообщество и обучение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19821" y="460857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Форум, библиотека практик, схемы процессов, встроенное обучение по ролям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4406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5596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 процессов BPMN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310128" y="54406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4224528" y="5596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 обучения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053328" y="54406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5596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 с разграничением прав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796528" y="54406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710928" y="5596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внешних зависимостей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ИЗМЕРИМОСТЬ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группы показателей и приборная панель руководителя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503066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148840"/>
            <a:ext cx="3503066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48840"/>
            <a:ext cx="3100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Вовлечённость и культура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724912"/>
            <a:ext cx="310073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Зарегистрировано и внедрено инициатив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сотрудников, подавших инициативу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Прохождение каждых ворот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Участники пилотов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«снизу» — без директив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Валоризация: измеренный эффект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4314" y="2148840"/>
            <a:ext cx="3503066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4314" y="2148840"/>
            <a:ext cx="3503066" cy="457200"/>
          </a:xfrm>
          <a:prstGeom prst="rect">
            <a:avLst/>
          </a:prstGeom>
          <a:solidFill>
            <a:srgbClr val="2450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5482" y="2148840"/>
            <a:ext cx="3100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и эффективность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45482" y="2724912"/>
            <a:ext cx="310073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«проблема → масштабирование»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Фактическое время каждого этапа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срока по каждым воротам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 успешности пилотирования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первого решения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1701" y="2148840"/>
            <a:ext cx="3503066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1701" y="2148840"/>
            <a:ext cx="3503066" cy="457200"/>
          </a:xfrm>
          <a:prstGeom prst="rect">
            <a:avLst/>
          </a:prstGeom>
          <a:solidFill>
            <a:srgbClr val="2F6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2869" y="2148840"/>
            <a:ext cx="3100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 риски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2869" y="2724912"/>
            <a:ext cx="310073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Kill — сколько и на каких воротах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Redirect и Hold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«заморозки»: застряли дольше срока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именно останавливаются инициативы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800600"/>
            <a:ext cx="26273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4919472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SLA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5148072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6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pPr indent="0" marL="0">
              <a:buNone/>
            </a:pPr>
            <a:r>
              <a:rPr lang="en-US" sz="1300" b="1" dirty="0">
                <a:solidFill>
                  <a:srgbClr val="A86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68096" y="5614416"/>
            <a:ext cx="2224964" cy="54864"/>
          </a:xfrm>
          <a:prstGeom prst="rect">
            <a:avLst/>
          </a:prstGeom>
          <a:solidFill>
            <a:srgbClr val="EEF1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5614416"/>
            <a:ext cx="1379478" cy="54864"/>
          </a:xfrm>
          <a:prstGeom prst="rect">
            <a:avLst/>
          </a:prstGeom>
          <a:solidFill>
            <a:srgbClr val="A862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7108" y="4800600"/>
            <a:ext cx="26273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78276" y="4919472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цикл, медиана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78276" y="5148072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дн.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578276" y="5614416"/>
            <a:ext cx="2224964" cy="54864"/>
          </a:xfrm>
          <a:prstGeom prst="rect">
            <a:avLst/>
          </a:prstGeom>
          <a:solidFill>
            <a:srgbClr val="EEF1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8276" y="5614416"/>
            <a:ext cx="1557475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7288" y="4800600"/>
            <a:ext cx="26273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88456" y="4919472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Успешность пилотов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5148072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7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pPr indent="0" marL="0">
              <a:buNone/>
            </a:pPr>
            <a:r>
              <a:rPr lang="en-US" sz="1300" b="1" dirty="0">
                <a:solidFill>
                  <a:srgbClr val="1A7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6388456" y="5614416"/>
            <a:ext cx="2224964" cy="54864"/>
          </a:xfrm>
          <a:prstGeom prst="rect">
            <a:avLst/>
          </a:prstGeom>
          <a:solidFill>
            <a:srgbClr val="EEF1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8456" y="5614416"/>
            <a:ext cx="1112482" cy="54864"/>
          </a:xfrm>
          <a:prstGeom prst="rect">
            <a:avLst/>
          </a:prstGeom>
          <a:solidFill>
            <a:srgbClr val="1A7F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97467" y="4800600"/>
            <a:ext cx="26273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635" y="4919472"/>
            <a:ext cx="22249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«заморозки»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98635" y="5148072"/>
            <a:ext cx="2224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pPr indent="0" marL="0">
              <a:buNone/>
            </a:pPr>
            <a:r>
              <a:rPr lang="en-US" sz="1300" b="1" dirty="0">
                <a:solidFill>
                  <a:srgbClr val="B3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198635" y="5614416"/>
            <a:ext cx="2224964" cy="54864"/>
          </a:xfrm>
          <a:prstGeom prst="rect">
            <a:avLst/>
          </a:prstGeom>
          <a:solidFill>
            <a:srgbClr val="EEF1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98635" y="5614416"/>
            <a:ext cx="556241" cy="54864"/>
          </a:xfrm>
          <a:prstGeom prst="rect">
            <a:avLst/>
          </a:prstGeom>
          <a:solidFill>
            <a:srgbClr val="B32B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598932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демонстрационные — показывают, какие показатели платформа считает сама, а не результаты Департамента. Решения Kill среди них не негативный показатель: они означают, что отбор работает.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Главные риски — организационные, и они сняты механизмами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1057839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2112264"/>
            <a:ext cx="3200400" cy="941832"/>
          </a:xfrm>
          <a:prstGeom prst="rect">
            <a:avLst/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Бюрократический застой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87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игнорируются из-за загрузки персонала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59936" y="2286000"/>
            <a:ext cx="7290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сроков встроен в систему и работает без участия человека: просрочка эскалируется автоматически, публичная отчётность по скорости, персональная ответственность руководителей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91256"/>
            <a:ext cx="11057839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3200400"/>
            <a:ext cx="3200400" cy="941832"/>
          </a:xfrm>
          <a:prstGeom prst="rect">
            <a:avLst/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55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 ошибки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75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боится, что идею раскритикуют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059936" y="3374136"/>
            <a:ext cx="7290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Закрепляется явная политика: участие в Social1 не влияет на аттестацию, а неудачная, но продуманная инициатива считается частью учебного процесса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279392"/>
            <a:ext cx="11057839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" y="4288536"/>
            <a:ext cx="3200400" cy="941832"/>
          </a:xfrm>
          <a:prstGeom prst="rect">
            <a:avLst/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43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изоляция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64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Учреждения вне пилота остаются в стороне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059936" y="4462272"/>
            <a:ext cx="7290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 проверенных практик открыта всем: любое учреждение берёт готовое решение с методическими материалами самостоятельно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67528"/>
            <a:ext cx="11057839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4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5376672"/>
            <a:ext cx="3200400" cy="941832"/>
          </a:xfrm>
          <a:prstGeom prst="rect">
            <a:avLst/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532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поставщика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52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одному исполнителю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59936" y="5550408"/>
            <a:ext cx="7290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построена на открытых стандартах, без внешних зависимостей, с открытым программным интерфейсом для интеграции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72"/>
              </a:lnSpc>
              <a:buNone/>
            </a:pPr>
            <a:r>
              <a:rPr lang="en-US" sz="3100" b="1" dirty="0">
                <a:solidFill>
                  <a:srgbClr val="141B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Поэтапно: сначала несколько учреждений, потом сеть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65960"/>
            <a:ext cx="86251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— прежде всего организационный проект. Технология готова; предмет работы — изменение практики руководителей и сотрудников.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2101840" cy="50292"/>
          </a:xfrm>
          <a:prstGeom prst="rect">
            <a:avLst/>
          </a:prstGeom>
          <a:solidFill>
            <a:srgbClr val="1B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871216"/>
            <a:ext cx="210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45536"/>
            <a:ext cx="210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Пилотная группа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12464"/>
            <a:ext cx="210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мотивированных учреждений. Отрабатываются не только платформа, но и процессы, коммуникация, мотивация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05928" y="2697480"/>
            <a:ext cx="2101840" cy="50292"/>
          </a:xfrm>
          <a:prstGeom prst="rect">
            <a:avLst/>
          </a:prstGeom>
          <a:solidFill>
            <a:srgbClr val="2450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05928" y="2871216"/>
            <a:ext cx="210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45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05928" y="3145536"/>
            <a:ext cx="210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Коммуникация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2805928" y="3712464"/>
            <a:ext cx="210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суть и пользу, снять опасение «ещё одна форма отчётности». Сообщение идёт от руководства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44928" y="2697480"/>
            <a:ext cx="2101840" cy="50292"/>
          </a:xfrm>
          <a:prstGeom prst="rect">
            <a:avLst/>
          </a:prstGeom>
          <a:solidFill>
            <a:srgbClr val="2F6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4928" y="2871216"/>
            <a:ext cx="210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6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44928" y="3145536"/>
            <a:ext cx="210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44928" y="3712464"/>
            <a:ext cx="210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Сотрудникам — как формулировать инициативу, руководителям — как решать, экспертам — как оценивать быстро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83928" y="2697480"/>
            <a:ext cx="2101840" cy="50292"/>
          </a:xfrm>
          <a:prstGeom prst="rect">
            <a:avLst/>
          </a:prstGeom>
          <a:solidFill>
            <a:srgbClr val="3D80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83928" y="2871216"/>
            <a:ext cx="210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D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4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283928" y="3145536"/>
            <a:ext cx="210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Итеративный запуск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283928" y="3712464"/>
            <a:ext cx="210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волнами, с обратной связью и корректировкой процесса после каждой волны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22927" y="2697480"/>
            <a:ext cx="2101840" cy="50292"/>
          </a:xfrm>
          <a:prstGeom prst="rect">
            <a:avLst/>
          </a:prstGeom>
          <a:solidFill>
            <a:srgbClr val="1A7F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22927" y="2871216"/>
            <a:ext cx="210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A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5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522927" y="3145536"/>
            <a:ext cx="210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практик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522927" y="3712464"/>
            <a:ext cx="210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Внедрённые решения собираются в библиотеку и распространяются между учреждениями по их инициативе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257800"/>
            <a:ext cx="11057839" cy="777240"/>
          </a:xfrm>
          <a:prstGeom prst="roundRect">
            <a:avLst>
              <a:gd name="adj" fmla="val 5882"/>
            </a:avLst>
          </a:prstGeom>
          <a:solidFill>
            <a:srgbClr val="F9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5257800"/>
            <a:ext cx="1047262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этапов определяются после утверждения состава пилотной группы —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41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[уточнить на защите]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Обучение и методические материалы для всех ролей уже встроены в платформу.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5669280" cy="566928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1229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49808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требуется от руководства Департамента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68900" cy="146304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2304288"/>
            <a:ext cx="431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Утвердить пилотную группу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679192"/>
            <a:ext cx="431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3–5 учреждений, готовых работать по-новому, и закрепить их руководителей как участников отбора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2103120"/>
            <a:ext cx="5368900" cy="146304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0188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33108" y="2304288"/>
            <a:ext cx="431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владельцев ворот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33108" y="2679192"/>
            <a:ext cx="431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Комитет экспертов, продакт-менеджер от Департамента, координатор пилотных площадок — без них конвейер не работает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822192"/>
            <a:ext cx="5368900" cy="146304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023360"/>
            <a:ext cx="431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Закрепить сроки в регламенте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44168" y="4398264"/>
            <a:ext cx="431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Придать срокам нормативный статус: 3 рабочих дня руководителю, 5 — экспертам. Без этого они останутся рекомендацией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55868" y="3822192"/>
            <a:ext cx="5368900" cy="146304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0188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33108" y="4023360"/>
            <a:ext cx="4317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Выделить ресурс на прототипы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33108" y="4398264"/>
            <a:ext cx="43173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Мощность команды цифровой трансформации на 3–4 параллельных прототипа — иначе инициативы встанут после Gate 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40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перспективная инициатива должна иметь понятный путь от идеи до внедрения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Social1 · Экосистема системных инноваций ДТСЗН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710367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2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Social1 — экосистема системных инноваций ДТСЗН</dc:title>
  <dc:subject>PptxGenJS Presentation</dc:subject>
  <dc:creator>ДТСЗН</dc:creator>
  <cp:lastModifiedBy>ДТСЗН</cp:lastModifiedBy>
  <cp:revision>1</cp:revision>
  <dcterms:created xsi:type="dcterms:W3CDTF">2026-08-27T12:09:04Z</dcterms:created>
  <dcterms:modified xsi:type="dcterms:W3CDTF">2026-08-27T12:09:04Z</dcterms:modified>
</cp:coreProperties>
</file>